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ienvenida" id="{ee0b4348-f5aa-c4dc-5043-6b3da1e7b6d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Vendedor" id="{d5fbc947-0168-c5d5-e056-0cdd0fca3f5f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Administración" id="{e997707b-1279-a7a9-3bf6-83ab9026b04d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Socios y Desarrollador" id="{effdd34e-ae34-0984-1f0d-561ab0c1f8b7}">
          <p14:sldIdLst>
            <p14:sldId id="277"/>
            <p14:sldId id="278"/>
            <p14:sldId id="279"/>
          </p14:sldIdLst>
        </p14:section>
        <p14:section name="Taller" id="{8aaa5c94-956e-74e5-1f78-d2a0ea1c2766}">
          <p14:sldIdLst>
            <p14:sldId id="280"/>
            <p14:sldId id="281"/>
            <p14:sldId id="282"/>
          </p14:sldIdLst>
        </p14:section>
        <p14:section name="Despacho" id="{0f35b5aa-81f4-2265-57a6-9bd38af9bb01}">
          <p14:sldIdLst>
            <p14:sldId id="283"/>
            <p14:sldId id="284"/>
          </p14:sldIdLst>
        </p14:section>
        <p14:section name="Laboratorio" id="{516287fa-bcd9-e02b-a595-51e650effeea}">
          <p14:sldIdLst>
            <p14:sldId id="285"/>
            <p14:sldId id="286"/>
          </p14:sldIdLst>
        </p14:section>
        <p14:section name="Cierre" id="{4b0b46e7-bc6e-2c23-1b7e-4546895b6379}">
          <p14:sldIdLst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Hoy aprenderán a usar el sistema según su perfil. Primero una parte común para todos; luego cada perfil con su sección.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de la capacitación. La parte común dura unos 15 minutos; luego cada perfil revisa su sección.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cada área ve su parte, pero todos trabajan sobre los mismos datos y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vivo en un celular: abrir el enlace, entrar, agregar a la pantalla de inicio y cambiar la contraseña temporal.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 barra superior. Insistir en la campana y en la franja roja: si aparece, hay que atenderla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está en Mi cuenta. Pedir que usen "Avisar un error" en vez de mensajes sueltos por WhatsApp: así queda registrado.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cada estado y quién lo avanza. La revisión es el camino de vuelta cuando algo está 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permisos. El detalle completo está en el manual, sección 4. Ver no es modificar.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para Lily y Jorge. Los socios Giovanni y Liz también venden con este flujo.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Siempre primero el cliente: los precios son de cada cliente. "Mis clientes" muestra los propios.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vivo: modo Unidades, 6 rojos y 6 negros. El precio por frasco es la docena entre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las tres formas de pago. El adelanto se registra cuando el pedido ya está en el 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franja roja no desaparece hasta reenviar el pedido. Mientras esté Recibido, el vendedor también puede modificarlo por su cuenta.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contra entrega: marcar Entregado y registrar el cobro en el momento. Luego entregar el dinero a Administración.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vendedor edita datos de sus clientes. Cada cambio llega como novedad a socios y Administración, sin necesidad de aprobación.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para Administración. Los socios tienen además todos estos permisos.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pedido Recibido pasa por Administración. Botones: Modificar, Enviar a revisión, Anular y Enviar al 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Escribir siempre un motivo claro. El consolidado suma lo que el Taller debe envasar; los pedidos en revisión no se suman.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Confirmar recibido solo cuando el dinero esté en mano o en la cuenta. Un cobro errado se anula; no se borra.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Cambiar un precio pide la fecha desde la que rige; el anterior queda en el historial. Las novedades informan, no piden aprobación.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Administración registra compras en Insumos y Materiales. Lo demás se mueve solo con lotes, envasados y pedidos.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socios tienen acceso total. El Desarrollador tiene los mismos permisos y recibe las sugerencias de mejora.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Resolver las alertas de datos del Excel poco a poco. Las de precio se cierran solas al registrar el precio.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Mi cuenta → Administrar usuarios. Nadie puede quitarse su propio perfil de socio o desarrollador.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Desde esta versión el Taller también despacha y marca entregado.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envasar compara lo que piden los pedidos con lo ya envasado. Registrar el envasado descuenta granel y materiales solos.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empaque del pedido dice cómo armar las bolsas. Si hay un problema, Enviar a revisión: lo ve Administración.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Despacho no envasa ni mueve almacenes; solo ve el producto envasado.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lista se abre en los pedidos Listos. Revisar la agencia y el empaque antes de despachar.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del Laboratorio: órdenes, lotes, validación, entrega e insumos.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registrar un lote salen los insumos; al aprobar entra a Granel Laboratorio; al entregar pasa al 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Repasar las cinco reglas. Pedir que cada uno pruebe su flujo hoy mismo con un pedido de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abrir preguntas. Recordar dónde está la ayuda.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5120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2316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Pinturas Liz · Capacitación · versión 0.7.0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3" name="Image 0" descr="/home/claude/pinturas-liz-app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2" y="274320"/>
            <a:ext cx="566928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Pinturas Liz · Capacitación · versión 0.7.0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Sistema Pinturas Liz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Capacitación de usuarios · versión 0.7.0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Pedidos, clientes, cobranzas, producción, taller y almacén en una sola app</a:t>
            </a:r>
            <a:endParaRPr lang="en-US" sz="1800" dirty="0"/>
          </a:p>
        </p:txBody>
      </p:sp>
      <p:sp>
        <p:nvSpPr>
          <p:cNvPr id="4" name="Fondo logo"/>
          <p:cNvSpPr/>
          <p:nvPr/>
        </p:nvSpPr>
        <p:spPr>
          <a:xfrm>
            <a:off x="6126480" y="1097280"/>
            <a:ext cx="2560320" cy="2926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Logo Pinturas Liz" descr="/home/claude/pinturas-liz-app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691640"/>
            <a:ext cx="2103120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Lo que veremos hoy</a:t>
            </a:r>
            <a:endParaRPr lang="en-US" sz="2800" dirty="0"/>
          </a:p>
        </p:txBody>
      </p:sp>
      <p:sp>
        <p:nvSpPr>
          <p:cNvPr id="4" name="Tarjeta 1. Qué es el sistema"/>
          <p:cNvSpPr/>
          <p:nvPr/>
        </p:nvSpPr>
        <p:spPr>
          <a:xfrm>
            <a:off x="457200" y="10972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5" name="Texto 1. Qué es el sistema"/>
          <p:cNvSpPr txBox="1"/>
          <p:nvPr/>
        </p:nvSpPr>
        <p:spPr>
          <a:xfrm>
            <a:off x="594360" y="11887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1. Qué es el sistema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Una app para todo el recorrido del pedido</a:t>
            </a:r>
            <a:endParaRPr lang="en-US" sz="1500" dirty="0"/>
          </a:p>
        </p:txBody>
      </p:sp>
      <p:sp>
        <p:nvSpPr>
          <p:cNvPr id="6" name="Tarjeta 2. Cómo entrar"/>
          <p:cNvSpPr/>
          <p:nvPr/>
        </p:nvSpPr>
        <p:spPr>
          <a:xfrm>
            <a:off x="3246120" y="10972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7" name="Texto 2. Cómo entrar"/>
          <p:cNvSpPr txBox="1"/>
          <p:nvPr/>
        </p:nvSpPr>
        <p:spPr>
          <a:xfrm>
            <a:off x="3383280" y="11887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2. Cómo entrar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Instalar, entrar y cambiar la contraseña</a:t>
            </a:r>
            <a:endParaRPr lang="en-US" sz="1500" dirty="0"/>
          </a:p>
        </p:txBody>
      </p:sp>
      <p:sp>
        <p:nvSpPr>
          <p:cNvPr id="8" name="Tarjeta 3. El recorrido del pedido"/>
          <p:cNvSpPr/>
          <p:nvPr/>
        </p:nvSpPr>
        <p:spPr>
          <a:xfrm>
            <a:off x="6035040" y="10972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9" name="Texto 3. El recorrido del pedido"/>
          <p:cNvSpPr txBox="1"/>
          <p:nvPr/>
        </p:nvSpPr>
        <p:spPr>
          <a:xfrm>
            <a:off x="6172200" y="11887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3. El recorrido del pedido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Quién hace cada paso</a:t>
            </a:r>
            <a:endParaRPr lang="en-US" sz="1500" dirty="0"/>
          </a:p>
        </p:txBody>
      </p:sp>
      <p:sp>
        <p:nvSpPr>
          <p:cNvPr id="10" name="Tarjeta 4. Tu perfil"/>
          <p:cNvSpPr/>
          <p:nvPr/>
        </p:nvSpPr>
        <p:spPr>
          <a:xfrm>
            <a:off x="457200" y="27889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11" name="Texto 4. Tu perfil"/>
          <p:cNvSpPr txBox="1"/>
          <p:nvPr/>
        </p:nvSpPr>
        <p:spPr>
          <a:xfrm>
            <a:off x="594360" y="28803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4. Tu perfil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Vendedor, Administración, Socio, Taller, Despacho, Laboratorio</a:t>
            </a:r>
            <a:endParaRPr lang="en-US" sz="1500" dirty="0"/>
          </a:p>
        </p:txBody>
      </p:sp>
      <p:sp>
        <p:nvSpPr>
          <p:cNvPr id="12" name="Tarjeta 5. Ayuda"/>
          <p:cNvSpPr/>
          <p:nvPr/>
        </p:nvSpPr>
        <p:spPr>
          <a:xfrm>
            <a:off x="3246120" y="27889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13" name="Texto 5. Ayuda"/>
          <p:cNvSpPr txBox="1"/>
          <p:nvPr/>
        </p:nvSpPr>
        <p:spPr>
          <a:xfrm>
            <a:off x="3383280" y="28803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5. Ayuda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Manual, guía rápida, avisos y sugerencias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Una sola app, del pedido al cobro</a:t>
            </a:r>
            <a:endParaRPr lang="en-US" sz="2800" dirty="0"/>
          </a:p>
        </p:txBody>
      </p:sp>
      <p:sp>
        <p:nvSpPr>
          <p:cNvPr id="4" name="Tarjeta Pedidos"/>
          <p:cNvSpPr/>
          <p:nvPr/>
        </p:nvSpPr>
        <p:spPr>
          <a:xfrm>
            <a:off x="457200" y="105156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5" name="Texto Pedidos"/>
          <p:cNvSpPr txBox="1"/>
          <p:nvPr/>
        </p:nvSpPr>
        <p:spPr>
          <a:xfrm>
            <a:off x="594360" y="11430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Pedidos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Catálogo, carrito y estado de cada pedido</a:t>
            </a:r>
            <a:endParaRPr lang="en-US" sz="1500" dirty="0"/>
          </a:p>
        </p:txBody>
      </p:sp>
      <p:sp>
        <p:nvSpPr>
          <p:cNvPr id="6" name="Tarjeta Clientes"/>
          <p:cNvSpPr/>
          <p:nvPr/>
        </p:nvSpPr>
        <p:spPr>
          <a:xfrm>
            <a:off x="3246120" y="105156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7" name="Texto Clientes"/>
          <p:cNvSpPr txBox="1"/>
          <p:nvPr/>
        </p:nvSpPr>
        <p:spPr>
          <a:xfrm>
            <a:off x="3383280" y="11430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5"/>
                </a:solidFill>
              </a:rPr>
              <a:t>Clientes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Ficha y precios por docena de cada cliente</a:t>
            </a:r>
            <a:endParaRPr lang="en-US" sz="1500" dirty="0"/>
          </a:p>
        </p:txBody>
      </p:sp>
      <p:sp>
        <p:nvSpPr>
          <p:cNvPr id="8" name="Tarjeta Cobranzas"/>
          <p:cNvSpPr/>
          <p:nvPr/>
        </p:nvSpPr>
        <p:spPr>
          <a:xfrm>
            <a:off x="6035040" y="105156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9" name="Texto Cobranzas"/>
          <p:cNvSpPr txBox="1"/>
          <p:nvPr/>
        </p:nvSpPr>
        <p:spPr>
          <a:xfrm>
            <a:off x="6172200" y="11430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Cobranzas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Cobros con recibo y cuadre del dinero</a:t>
            </a:r>
            <a:endParaRPr lang="en-US" sz="1500" dirty="0"/>
          </a:p>
        </p:txBody>
      </p:sp>
      <p:sp>
        <p:nvSpPr>
          <p:cNvPr id="10" name="Tarjeta Producción"/>
          <p:cNvSpPr/>
          <p:nvPr/>
        </p:nvSpPr>
        <p:spPr>
          <a:xfrm>
            <a:off x="457200" y="246888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11" name="Texto Producción"/>
          <p:cNvSpPr txBox="1"/>
          <p:nvPr/>
        </p:nvSpPr>
        <p:spPr>
          <a:xfrm>
            <a:off x="594360" y="25603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Producción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Órdenes y lotes del Laboratorio</a:t>
            </a:r>
            <a:endParaRPr lang="en-US" sz="1500" dirty="0"/>
          </a:p>
        </p:txBody>
      </p:sp>
      <p:sp>
        <p:nvSpPr>
          <p:cNvPr id="12" name="Tarjeta Taller"/>
          <p:cNvSpPr/>
          <p:nvPr/>
        </p:nvSpPr>
        <p:spPr>
          <a:xfrm>
            <a:off x="3246120" y="246888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13" name="Texto Taller"/>
          <p:cNvSpPr txBox="1"/>
          <p:nvPr/>
        </p:nvSpPr>
        <p:spPr>
          <a:xfrm>
            <a:off x="3383280" y="25603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Taller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Envasado, armado y despacho</a:t>
            </a:r>
            <a:endParaRPr lang="en-US" sz="1500" dirty="0"/>
          </a:p>
        </p:txBody>
      </p:sp>
      <p:sp>
        <p:nvSpPr>
          <p:cNvPr id="14" name="Tarjeta Almacén"/>
          <p:cNvSpPr/>
          <p:nvPr/>
        </p:nvSpPr>
        <p:spPr>
          <a:xfrm>
            <a:off x="6035040" y="246888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15" name="Texto Almacén"/>
          <p:cNvSpPr txBox="1"/>
          <p:nvPr/>
        </p:nvSpPr>
        <p:spPr>
          <a:xfrm>
            <a:off x="6172200" y="25603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Almacén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Insumos, granel, materiales y producto envasado</a:t>
            </a:r>
            <a:endParaRPr lang="en-US" sz="1500" dirty="0"/>
          </a:p>
        </p:txBody>
      </p:sp>
      <p:sp>
        <p:nvSpPr>
          <p:cNvPr id="16" name="Mensaje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Cada persona ve solo los módulos y botones de su perfil. Los cambios se ven en vivo en todos los equipos.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Entrar e instalar la app</a:t>
            </a:r>
            <a:endParaRPr lang="en-US" sz="2800" dirty="0"/>
          </a:p>
        </p:txBody>
      </p:sp>
      <p:sp>
        <p:nvSpPr>
          <p:cNvPr id="4" name="Paso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úmero 1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o paso 1"/>
          <p:cNvSpPr txBox="1"/>
          <p:nvPr/>
        </p:nvSpPr>
        <p:spPr>
          <a:xfrm>
            <a:off x="978408" y="1014984"/>
            <a:ext cx="4599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Abre el enlace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estadisticoj.github.io/pinturas-liz-app</a:t>
            </a:r>
            <a:endParaRPr lang="en-US" sz="1400" dirty="0"/>
          </a:p>
        </p:txBody>
      </p:sp>
      <p:sp>
        <p:nvSpPr>
          <p:cNvPr id="7" name="Paso 2"/>
          <p:cNvSpPr/>
          <p:nvPr/>
        </p:nvSpPr>
        <p:spPr>
          <a:xfrm>
            <a:off x="457200" y="178308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4572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o paso 2"/>
          <p:cNvSpPr txBox="1"/>
          <p:nvPr/>
        </p:nvSpPr>
        <p:spPr>
          <a:xfrm>
            <a:off x="978408" y="1746504"/>
            <a:ext cx="4599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Entra con tu correo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y la contraseña temporal que te dieron</a:t>
            </a:r>
            <a:endParaRPr lang="en-US" sz="1400" dirty="0"/>
          </a:p>
        </p:txBody>
      </p:sp>
      <p:sp>
        <p:nvSpPr>
          <p:cNvPr id="10" name="Paso 3"/>
          <p:cNvSpPr/>
          <p:nvPr/>
        </p:nvSpPr>
        <p:spPr>
          <a:xfrm>
            <a:off x="457200" y="25146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Número 3"/>
          <p:cNvSpPr txBox="1"/>
          <p:nvPr/>
        </p:nvSpPr>
        <p:spPr>
          <a:xfrm>
            <a:off x="45720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o paso 3"/>
          <p:cNvSpPr txBox="1"/>
          <p:nvPr/>
        </p:nvSpPr>
        <p:spPr>
          <a:xfrm>
            <a:off x="978408" y="2478024"/>
            <a:ext cx="4599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Instálala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Menú del navegador → Agregar a la pantalla de inicio</a:t>
            </a:r>
            <a:endParaRPr lang="en-US" sz="1400" dirty="0"/>
          </a:p>
        </p:txBody>
      </p:sp>
      <p:sp>
        <p:nvSpPr>
          <p:cNvPr id="13" name="Paso 4"/>
          <p:cNvSpPr/>
          <p:nvPr/>
        </p:nvSpPr>
        <p:spPr>
          <a:xfrm>
            <a:off x="457200" y="324612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úmero 4"/>
          <p:cNvSpPr txBox="1"/>
          <p:nvPr/>
        </p:nvSpPr>
        <p:spPr>
          <a:xfrm>
            <a:off x="4572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o paso 4"/>
          <p:cNvSpPr txBox="1"/>
          <p:nvPr/>
        </p:nvSpPr>
        <p:spPr>
          <a:xfrm>
            <a:off x="978408" y="3209544"/>
            <a:ext cx="4599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Cambia tu contraseña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Mi cuenta → Cambiar contraseña (mínimo 8 caracteres)</a:t>
            </a:r>
            <a:endParaRPr lang="en-US" sz="1400" dirty="0"/>
          </a:p>
        </p:txBody>
      </p:sp>
      <p:sp>
        <p:nvSpPr>
          <p:cNvPr id="16" name="Paso 5"/>
          <p:cNvSpPr/>
          <p:nvPr/>
        </p:nvSpPr>
        <p:spPr>
          <a:xfrm>
            <a:off x="457200" y="397764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Número 5"/>
          <p:cNvSpPr txBox="1"/>
          <p:nvPr/>
        </p:nvSpPr>
        <p:spPr>
          <a:xfrm>
            <a:off x="4572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o paso 5"/>
          <p:cNvSpPr txBox="1"/>
          <p:nvPr/>
        </p:nvSpPr>
        <p:spPr>
          <a:xfrm>
            <a:off x="978408" y="3941064"/>
            <a:ext cx="4599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Se actualiza sola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 versión está en Mi cuenta</a:t>
            </a:r>
            <a:endParaRPr lang="en-US" sz="1400" dirty="0"/>
          </a:p>
        </p:txBody>
      </p:sp>
      <p:sp>
        <p:nvSpPr>
          <p:cNvPr id="19" name="Marco comun-entrada"/>
          <p:cNvSpPr/>
          <p:nvPr/>
        </p:nvSpPr>
        <p:spPr>
          <a:xfrm>
            <a:off x="633679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20" name="Captura comun-entrada" descr="Pantalla de la aplicación: comun entr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1711250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Tu pantalla</a:t>
            </a:r>
            <a:endParaRPr lang="en-US" sz="2800" dirty="0"/>
          </a:p>
        </p:txBody>
      </p:sp>
      <p:sp>
        <p:nvSpPr>
          <p:cNvPr id="4" name="Paso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úmero 1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o paso 1"/>
          <p:cNvSpPr txBox="1"/>
          <p:nvPr/>
        </p:nvSpPr>
        <p:spPr>
          <a:xfrm>
            <a:off x="978408" y="1014984"/>
            <a:ext cx="4416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Campana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Alertas y novedades; el número amarillo cuenta lo pendiente</a:t>
            </a:r>
            <a:endParaRPr lang="en-US" sz="1400" dirty="0"/>
          </a:p>
        </p:txBody>
      </p:sp>
      <p:sp>
        <p:nvSpPr>
          <p:cNvPr id="7" name="Paso 2"/>
          <p:cNvSpPr/>
          <p:nvPr/>
        </p:nvSpPr>
        <p:spPr>
          <a:xfrm>
            <a:off x="457200" y="178308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4572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o paso 2"/>
          <p:cNvSpPr txBox="1"/>
          <p:nvPr/>
        </p:nvSpPr>
        <p:spPr>
          <a:xfrm>
            <a:off x="978408" y="1746504"/>
            <a:ext cx="4416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Mi cuenta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Manual, guía rápida, contraseña y versión</a:t>
            </a:r>
            <a:endParaRPr lang="en-US" sz="1400" dirty="0"/>
          </a:p>
        </p:txBody>
      </p:sp>
      <p:sp>
        <p:nvSpPr>
          <p:cNvPr id="10" name="Paso 3"/>
          <p:cNvSpPr/>
          <p:nvPr/>
        </p:nvSpPr>
        <p:spPr>
          <a:xfrm>
            <a:off x="457200" y="25146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Número 3"/>
          <p:cNvSpPr txBox="1"/>
          <p:nvPr/>
        </p:nvSpPr>
        <p:spPr>
          <a:xfrm>
            <a:off x="45720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o paso 3"/>
          <p:cNvSpPr txBox="1"/>
          <p:nvPr/>
        </p:nvSpPr>
        <p:spPr>
          <a:xfrm>
            <a:off x="978408" y="2478024"/>
            <a:ext cx="4416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Carrito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Productos del pedido que estás armando</a:t>
            </a:r>
            <a:endParaRPr lang="en-US" sz="1400" dirty="0"/>
          </a:p>
        </p:txBody>
      </p:sp>
      <p:sp>
        <p:nvSpPr>
          <p:cNvPr id="13" name="Paso 4"/>
          <p:cNvSpPr/>
          <p:nvPr/>
        </p:nvSpPr>
        <p:spPr>
          <a:xfrm>
            <a:off x="457200" y="324612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úmero 4"/>
          <p:cNvSpPr txBox="1"/>
          <p:nvPr/>
        </p:nvSpPr>
        <p:spPr>
          <a:xfrm>
            <a:off x="4572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o paso 4"/>
          <p:cNvSpPr txBox="1"/>
          <p:nvPr/>
        </p:nvSpPr>
        <p:spPr>
          <a:xfrm>
            <a:off x="978408" y="3209544"/>
            <a:ext cx="4416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Franja roja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Alerta urgente: un pedido que debes revisar</a:t>
            </a:r>
            <a:endParaRPr lang="en-US" sz="1400" dirty="0"/>
          </a:p>
        </p:txBody>
      </p:sp>
      <p:sp>
        <p:nvSpPr>
          <p:cNvPr id="16" name="Paso 5"/>
          <p:cNvSpPr/>
          <p:nvPr/>
        </p:nvSpPr>
        <p:spPr>
          <a:xfrm>
            <a:off x="457200" y="397764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Número 5"/>
          <p:cNvSpPr txBox="1"/>
          <p:nvPr/>
        </p:nvSpPr>
        <p:spPr>
          <a:xfrm>
            <a:off x="4572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o paso 5"/>
          <p:cNvSpPr txBox="1"/>
          <p:nvPr/>
        </p:nvSpPr>
        <p:spPr>
          <a:xfrm>
            <a:off x="978408" y="3941064"/>
            <a:ext cx="4416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Módulos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Abajo en el celular, arriba en la computadora</a:t>
            </a:r>
            <a:endParaRPr lang="en-US" sz="1400" dirty="0"/>
          </a:p>
        </p:txBody>
      </p:sp>
      <p:sp>
        <p:nvSpPr>
          <p:cNvPr id="19" name="Marco vend-alerta-urgente"/>
          <p:cNvSpPr/>
          <p:nvPr/>
        </p:nvSpPr>
        <p:spPr>
          <a:xfrm>
            <a:off x="597103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20" name="Captura vend-alerta-urgente" descr="Pantalla de la aplicación: vend alerta urg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914400"/>
            <a:ext cx="1711250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Ayuda dentro de la app</a:t>
            </a:r>
            <a:endParaRPr lang="en-US" sz="2800" dirty="0"/>
          </a:p>
        </p:txBody>
      </p:sp>
      <p:sp>
        <p:nvSpPr>
          <p:cNvPr id="4" name="Marco comun-mi-cuenta"/>
          <p:cNvSpPr/>
          <p:nvPr/>
        </p:nvSpPr>
        <p:spPr>
          <a:xfrm>
            <a:off x="48463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5" name="Captura comun-mi-cuenta" descr="Pantalla de la aplicación: comun mi cuen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1711250" cy="3703320"/>
          </a:xfrm>
          <a:prstGeom prst="rect">
            <a:avLst/>
          </a:prstGeom>
        </p:spPr>
      </p:pic>
      <p:sp>
        <p:nvSpPr>
          <p:cNvPr id="6" name="Marco comun-sugerir-mejora"/>
          <p:cNvSpPr/>
          <p:nvPr/>
        </p:nvSpPr>
        <p:spPr>
          <a:xfrm>
            <a:off x="267919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7" name="Captura comun-sugerir-mejora" descr="Pantalla de la aplicación: comun sugerir mejo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14400"/>
            <a:ext cx="1711250" cy="3703320"/>
          </a:xfrm>
          <a:prstGeom prst="rect">
            <a:avLst/>
          </a:prstGeom>
        </p:spPr>
      </p:pic>
      <p:sp>
        <p:nvSpPr>
          <p:cNvPr id="8" name="Tarjeta Manual y guía rápida"/>
          <p:cNvSpPr/>
          <p:nvPr/>
        </p:nvSpPr>
        <p:spPr>
          <a:xfrm>
            <a:off x="4983480" y="914400"/>
            <a:ext cx="37033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9" name="Texto Manual y guía rápida"/>
          <p:cNvSpPr txBox="1"/>
          <p:nvPr/>
        </p:nvSpPr>
        <p:spPr>
          <a:xfrm>
            <a:off x="5120640" y="100584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Manual y guía rápida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El manual completo y la hoja de tu perfil, en PDF.</a:t>
            </a:r>
            <a:endParaRPr lang="en-US" sz="1400" dirty="0"/>
          </a:p>
        </p:txBody>
      </p:sp>
      <p:sp>
        <p:nvSpPr>
          <p:cNvPr id="10" name="Tarjeta Avisar un error de datos"/>
          <p:cNvSpPr/>
          <p:nvPr/>
        </p:nvSpPr>
        <p:spPr>
          <a:xfrm>
            <a:off x="4983480" y="2194560"/>
            <a:ext cx="37033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11" name="Texto Avisar un error de datos"/>
          <p:cNvSpPr txBox="1"/>
          <p:nvPr/>
        </p:nvSpPr>
        <p:spPr>
          <a:xfrm>
            <a:off x="5120640" y="228600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Avisar un error de datos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Un teléfono errado, un precio distinto… Llega a los socios.</a:t>
            </a:r>
            <a:endParaRPr lang="en-US" sz="1400" dirty="0"/>
          </a:p>
        </p:txBody>
      </p:sp>
      <p:sp>
        <p:nvSpPr>
          <p:cNvPr id="12" name="Tarjeta Sugerir una mejora"/>
          <p:cNvSpPr/>
          <p:nvPr/>
        </p:nvSpPr>
        <p:spPr>
          <a:xfrm>
            <a:off x="4983480" y="3474720"/>
            <a:ext cx="37033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13" name="Texto Sugerir una mejora"/>
          <p:cNvSpPr txBox="1"/>
          <p:nvPr/>
        </p:nvSpPr>
        <p:spPr>
          <a:xfrm>
            <a:off x="5120640" y="356616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Sugerir una mejora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Una idea para la app. Llega al Desarrollador.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 recorrido de un pedido</a:t>
            </a:r>
            <a:endParaRPr lang="en-US" sz="2800" dirty="0"/>
          </a:p>
        </p:txBody>
      </p:sp>
      <p:sp>
        <p:nvSpPr>
          <p:cNvPr id="4" name="Estado Recibido"/>
          <p:cNvSpPr/>
          <p:nvPr/>
        </p:nvSpPr>
        <p:spPr>
          <a:xfrm>
            <a:off x="457200" y="1234440"/>
            <a:ext cx="1463040" cy="68580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Nombre Recibido"/>
          <p:cNvSpPr txBox="1"/>
          <p:nvPr/>
        </p:nvSpPr>
        <p:spPr>
          <a:xfrm>
            <a:off x="457200" y="12344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Recibido</a:t>
            </a:r>
            <a:endParaRPr lang="en-US" sz="1500" dirty="0"/>
          </a:p>
        </p:txBody>
      </p:sp>
      <p:sp>
        <p:nvSpPr>
          <p:cNvPr id="6" name="Quién Recibido"/>
          <p:cNvSpPr txBox="1"/>
          <p:nvPr/>
        </p:nvSpPr>
        <p:spPr>
          <a:xfrm>
            <a:off x="457200" y="19842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 registra Ventas o Adm.</a:t>
            </a:r>
            <a:endParaRPr lang="en-US" sz="1200" dirty="0"/>
          </a:p>
        </p:txBody>
      </p:sp>
      <p:sp>
        <p:nvSpPr>
          <p:cNvPr id="7" name="Flecha 0"/>
          <p:cNvSpPr/>
          <p:nvPr/>
        </p:nvSpPr>
        <p:spPr>
          <a:xfrm>
            <a:off x="1947672" y="1463040"/>
            <a:ext cx="182880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Estado En taller"/>
          <p:cNvSpPr/>
          <p:nvPr/>
        </p:nvSpPr>
        <p:spPr>
          <a:xfrm>
            <a:off x="2157984" y="1234440"/>
            <a:ext cx="1463040" cy="68580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Nombre En taller"/>
          <p:cNvSpPr txBox="1"/>
          <p:nvPr/>
        </p:nvSpPr>
        <p:spPr>
          <a:xfrm>
            <a:off x="2157984" y="12344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En taller</a:t>
            </a:r>
            <a:endParaRPr lang="en-US" sz="1500" dirty="0"/>
          </a:p>
        </p:txBody>
      </p:sp>
      <p:sp>
        <p:nvSpPr>
          <p:cNvPr id="10" name="Quién En taller"/>
          <p:cNvSpPr txBox="1"/>
          <p:nvPr/>
        </p:nvSpPr>
        <p:spPr>
          <a:xfrm>
            <a:off x="2157984" y="19842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Adm. lo envía</a:t>
            </a:r>
            <a:endParaRPr lang="en-US" sz="1200" dirty="0"/>
          </a:p>
        </p:txBody>
      </p:sp>
      <p:sp>
        <p:nvSpPr>
          <p:cNvPr id="11" name="Flecha 1"/>
          <p:cNvSpPr/>
          <p:nvPr/>
        </p:nvSpPr>
        <p:spPr>
          <a:xfrm>
            <a:off x="3648456" y="1463040"/>
            <a:ext cx="182880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Estado Listo"/>
          <p:cNvSpPr/>
          <p:nvPr/>
        </p:nvSpPr>
        <p:spPr>
          <a:xfrm>
            <a:off x="3858768" y="1234440"/>
            <a:ext cx="146304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ombre Listo"/>
          <p:cNvSpPr txBox="1"/>
          <p:nvPr/>
        </p:nvSpPr>
        <p:spPr>
          <a:xfrm>
            <a:off x="3858768" y="12344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Listo</a:t>
            </a:r>
            <a:endParaRPr lang="en-US" sz="1500" dirty="0"/>
          </a:p>
        </p:txBody>
      </p:sp>
      <p:sp>
        <p:nvSpPr>
          <p:cNvPr id="14" name="Quién Listo"/>
          <p:cNvSpPr txBox="1"/>
          <p:nvPr/>
        </p:nvSpPr>
        <p:spPr>
          <a:xfrm>
            <a:off x="3858768" y="19842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Taller o Adm.</a:t>
            </a:r>
            <a:endParaRPr lang="en-US" sz="1200" dirty="0"/>
          </a:p>
        </p:txBody>
      </p:sp>
      <p:sp>
        <p:nvSpPr>
          <p:cNvPr id="15" name="Flecha 2"/>
          <p:cNvSpPr/>
          <p:nvPr/>
        </p:nvSpPr>
        <p:spPr>
          <a:xfrm>
            <a:off x="5349240" y="1463040"/>
            <a:ext cx="182880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Estado Despachado"/>
          <p:cNvSpPr/>
          <p:nvPr/>
        </p:nvSpPr>
        <p:spPr>
          <a:xfrm>
            <a:off x="5559552" y="1234440"/>
            <a:ext cx="1463040" cy="68580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Nombre Despachado"/>
          <p:cNvSpPr txBox="1"/>
          <p:nvPr/>
        </p:nvSpPr>
        <p:spPr>
          <a:xfrm>
            <a:off x="5559552" y="12344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Despachado</a:t>
            </a:r>
            <a:endParaRPr lang="en-US" sz="1500" dirty="0"/>
          </a:p>
        </p:txBody>
      </p:sp>
      <p:sp>
        <p:nvSpPr>
          <p:cNvPr id="18" name="Quién Despachado"/>
          <p:cNvSpPr txBox="1"/>
          <p:nvPr/>
        </p:nvSpPr>
        <p:spPr>
          <a:xfrm>
            <a:off x="5559552" y="19842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Taller, Despacho o Adm.</a:t>
            </a:r>
            <a:endParaRPr lang="en-US" sz="1200" dirty="0"/>
          </a:p>
        </p:txBody>
      </p:sp>
      <p:sp>
        <p:nvSpPr>
          <p:cNvPr id="19" name="Flecha 3"/>
          <p:cNvSpPr/>
          <p:nvPr/>
        </p:nvSpPr>
        <p:spPr>
          <a:xfrm>
            <a:off x="7050024" y="1463040"/>
            <a:ext cx="182880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Estado Entregado"/>
          <p:cNvSpPr/>
          <p:nvPr/>
        </p:nvSpPr>
        <p:spPr>
          <a:xfrm>
            <a:off x="7260336" y="1234440"/>
            <a:ext cx="146304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ombre Entregado"/>
          <p:cNvSpPr txBox="1"/>
          <p:nvPr/>
        </p:nvSpPr>
        <p:spPr>
          <a:xfrm>
            <a:off x="7260336" y="12344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Entregado</a:t>
            </a:r>
            <a:endParaRPr lang="en-US" sz="1500" dirty="0"/>
          </a:p>
        </p:txBody>
      </p:sp>
      <p:sp>
        <p:nvSpPr>
          <p:cNvPr id="22" name="Quién Entregado"/>
          <p:cNvSpPr txBox="1"/>
          <p:nvPr/>
        </p:nvSpPr>
        <p:spPr>
          <a:xfrm>
            <a:off x="7260336" y="19842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También el vendedor</a:t>
            </a:r>
            <a:endParaRPr lang="en-US" sz="1200" dirty="0"/>
          </a:p>
        </p:txBody>
      </p:sp>
      <p:sp>
        <p:nvSpPr>
          <p:cNvPr id="23" name="Tarjeta En revisión (camino de vuelta)"/>
          <p:cNvSpPr/>
          <p:nvPr/>
        </p:nvSpPr>
        <p:spPr>
          <a:xfrm>
            <a:off x="457200" y="278892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24" name="Texto En revisión (camino de vuelta)"/>
          <p:cNvSpPr txBox="1"/>
          <p:nvPr/>
        </p:nvSpPr>
        <p:spPr>
          <a:xfrm>
            <a:off x="594360" y="288036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 revisión (camino de vuelta)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Adm. o un socio lo devuelve con un motivo. Quien lo registró ve una franja roja, corrige y pulsa «Corregido, reenviar». El Taller también puede pedirla: la ve primero Administración.</a:t>
            </a:r>
            <a:endParaRPr lang="en-US" sz="1400" dirty="0"/>
          </a:p>
        </p:txBody>
      </p:sp>
      <p:sp>
        <p:nvSpPr>
          <p:cNvPr id="25" name="Tarjeta Cuándo se cobra"/>
          <p:cNvSpPr/>
          <p:nvPr/>
        </p:nvSpPr>
        <p:spPr>
          <a:xfrm>
            <a:off x="4663440" y="278892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26" name="Texto Cuándo se cobra"/>
          <p:cNvSpPr txBox="1"/>
          <p:nvPr/>
        </p:nvSpPr>
        <p:spPr>
          <a:xfrm>
            <a:off x="4800600" y="288036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Cuándo se cobra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Contado y crédito: cuando está Entregado. Adelanto: desde que pasa al Taller. Anular: solo Adm. o socios, hasta En taller.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Quién hace qué</a:t>
            </a:r>
            <a:endParaRPr lang="en-US" sz="2800" dirty="0"/>
          </a:p>
        </p:txBody>
      </p:sp>
      <p:graphicFrame>
        <p:nvGraphicFramePr>
          <p:cNvPr id="9" name="Tabla de permis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731520"/>
                <a:gridCol w="1097280"/>
                <a:gridCol w="914400"/>
                <a:gridCol w="128016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Acción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Socio y Dev.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Adm.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Vendedor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Taller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Despacho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Lab.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Registrar y modificar pedidos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suyos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Enviar a revisión o anular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revisión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Listo / Despachar / Entregado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entrega suyos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despacha y entrega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Clientes y primer precio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suyos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Cambiar precios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Registrar cobros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suyos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Envasar y pedir producción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pide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Lotes del Laboratorio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Perfiles, medidas y límites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Vendedor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231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Registras los pedidos de tus clientes, cuidas sus datos, entregas y cobras.</a:t>
            </a:r>
            <a:endParaRPr lang="en-US" sz="1800" dirty="0"/>
          </a:p>
        </p:txBody>
      </p:sp>
      <p:sp>
        <p:nvSpPr>
          <p:cNvPr id="4" name="Tarjeta perfil"/>
          <p:cNvSpPr/>
          <p:nvPr/>
        </p:nvSpPr>
        <p:spPr>
          <a:xfrm>
            <a:off x="6583680" y="1417320"/>
            <a:ext cx="2011680" cy="237744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Logo" descr="/home/claude/pinturas-liz-app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600200"/>
            <a:ext cx="1554480" cy="1161288"/>
          </a:xfrm>
          <a:prstGeom prst="rect">
            <a:avLst/>
          </a:prstGeom>
        </p:spPr>
      </p:pic>
      <p:sp>
        <p:nvSpPr>
          <p:cNvPr id="6" name="Quién"/>
          <p:cNvSpPr txBox="1"/>
          <p:nvPr/>
        </p:nvSpPr>
        <p:spPr>
          <a:xfrm>
            <a:off x="6675120" y="2880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Lily De La Cruz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Jorge Ruiz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Elige el cliente y el producto</a:t>
            </a:r>
            <a:endParaRPr lang="en-US" sz="2800" dirty="0"/>
          </a:p>
        </p:txBody>
      </p:sp>
      <p:sp>
        <p:nvSpPr>
          <p:cNvPr id="4" name="Paso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úmero 1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o paso 1"/>
          <p:cNvSpPr txBox="1"/>
          <p:nvPr/>
        </p:nvSpPr>
        <p:spPr>
          <a:xfrm>
            <a:off x="978408" y="1014984"/>
            <a:ext cx="3685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Elegir cliente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Busca por nombre, código o zona. «Mis clientes» filtra los tuyos</a:t>
            </a:r>
            <a:endParaRPr lang="en-US" sz="1400" dirty="0"/>
          </a:p>
        </p:txBody>
      </p:sp>
      <p:sp>
        <p:nvSpPr>
          <p:cNvPr id="7" name="Paso 2"/>
          <p:cNvSpPr/>
          <p:nvPr/>
        </p:nvSpPr>
        <p:spPr>
          <a:xfrm>
            <a:off x="457200" y="201168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4572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o paso 2"/>
          <p:cNvSpPr txBox="1"/>
          <p:nvPr/>
        </p:nvSpPr>
        <p:spPr>
          <a:xfrm>
            <a:off x="978408" y="1975104"/>
            <a:ext cx="3685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Cliente nuevo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Nombre y teléfono; queda a tu nombre</a:t>
            </a:r>
            <a:endParaRPr lang="en-US" sz="1400" dirty="0"/>
          </a:p>
        </p:txBody>
      </p:sp>
      <p:sp>
        <p:nvSpPr>
          <p:cNvPr id="10" name="Paso 3"/>
          <p:cNvSpPr/>
          <p:nvPr/>
        </p:nvSpPr>
        <p:spPr>
          <a:xfrm>
            <a:off x="457200" y="2971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Número 3"/>
          <p:cNvSpPr txBox="1"/>
          <p:nvPr/>
        </p:nvSpPr>
        <p:spPr>
          <a:xfrm>
            <a:off x="4572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o paso 3"/>
          <p:cNvSpPr txBox="1"/>
          <p:nvPr/>
        </p:nvSpPr>
        <p:spPr>
          <a:xfrm>
            <a:off x="978408" y="2935224"/>
            <a:ext cx="3685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Abre un producto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Ves sus precios por docena; la medida habitual se elige sola</a:t>
            </a:r>
            <a:endParaRPr lang="en-US" sz="1400" dirty="0"/>
          </a:p>
        </p:txBody>
      </p:sp>
      <p:sp>
        <p:nvSpPr>
          <p:cNvPr id="13" name="Marco vend-elegir-cliente"/>
          <p:cNvSpPr/>
          <p:nvPr/>
        </p:nvSpPr>
        <p:spPr>
          <a:xfrm>
            <a:off x="487375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14" name="Captura vend-elegir-cliente" descr="Pantalla de la aplicación: vend elegir cli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914400"/>
            <a:ext cx="1711250" cy="3703320"/>
          </a:xfrm>
          <a:prstGeom prst="rect">
            <a:avLst/>
          </a:prstGeom>
        </p:spPr>
      </p:pic>
      <p:sp>
        <p:nvSpPr>
          <p:cNvPr id="15" name="Marco vend-producto-medida"/>
          <p:cNvSpPr/>
          <p:nvPr/>
        </p:nvSpPr>
        <p:spPr>
          <a:xfrm>
            <a:off x="683971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16" name="Captura vend-producto-medida" descr="Pantalla de la aplicación: vend producto medi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914400"/>
            <a:ext cx="1711250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Docenas o unidades</a:t>
            </a:r>
            <a:endParaRPr lang="en-US" sz="2800" dirty="0"/>
          </a:p>
        </p:txBody>
      </p:sp>
      <p:sp>
        <p:nvSpPr>
          <p:cNvPr id="4" name="Paso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úmero 1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o paso 1"/>
          <p:cNvSpPr txBox="1"/>
          <p:nvPr/>
        </p:nvSpPr>
        <p:spPr>
          <a:xfrm>
            <a:off x="978408" y="1014984"/>
            <a:ext cx="3867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Elige la medida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Si no hay precio, escríbelo o pulsa «Usar sugerido»</a:t>
            </a:r>
            <a:endParaRPr lang="en-US" sz="1400" dirty="0"/>
          </a:p>
        </p:txBody>
      </p:sp>
      <p:sp>
        <p:nvSpPr>
          <p:cNvPr id="7" name="Paso 2"/>
          <p:cNvSpPr/>
          <p:nvPr/>
        </p:nvSpPr>
        <p:spPr>
          <a:xfrm>
            <a:off x="457200" y="180136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45720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o paso 2"/>
          <p:cNvSpPr txBox="1"/>
          <p:nvPr/>
        </p:nvSpPr>
        <p:spPr>
          <a:xfrm>
            <a:off x="978408" y="1764792"/>
            <a:ext cx="3867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Docenas o Unidades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Docenas: cada + suma 12. Unidades: cada + suma 1</a:t>
            </a:r>
            <a:endParaRPr lang="en-US" sz="1400" dirty="0"/>
          </a:p>
        </p:txBody>
      </p:sp>
      <p:sp>
        <p:nvSpPr>
          <p:cNvPr id="10" name="Paso 3"/>
          <p:cNvSpPr/>
          <p:nvPr/>
        </p:nvSpPr>
        <p:spPr>
          <a:xfrm>
            <a:off x="457200" y="25511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Número 3"/>
          <p:cNvSpPr txBox="1"/>
          <p:nvPr/>
        </p:nvSpPr>
        <p:spPr>
          <a:xfrm>
            <a:off x="45720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o paso 3"/>
          <p:cNvSpPr txBox="1"/>
          <p:nvPr/>
        </p:nvSpPr>
        <p:spPr>
          <a:xfrm>
            <a:off x="978408" y="2514600"/>
            <a:ext cx="3867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Suma colores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Puedes mezclar: 6 de un color y 6 de otro</a:t>
            </a:r>
            <a:endParaRPr lang="en-US" sz="1400" dirty="0"/>
          </a:p>
        </p:txBody>
      </p:sp>
      <p:sp>
        <p:nvSpPr>
          <p:cNvPr id="13" name="Paso 4"/>
          <p:cNvSpPr/>
          <p:nvPr/>
        </p:nvSpPr>
        <p:spPr>
          <a:xfrm>
            <a:off x="457200" y="33009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úmero 4"/>
          <p:cNvSpPr txBox="1"/>
          <p:nvPr/>
        </p:nvSpPr>
        <p:spPr>
          <a:xfrm>
            <a:off x="45720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o paso 4"/>
          <p:cNvSpPr txBox="1"/>
          <p:nvPr/>
        </p:nvSpPr>
        <p:spPr>
          <a:xfrm>
            <a:off x="978408" y="3264408"/>
            <a:ext cx="3867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Agregar al carrito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Repite con otros productos</a:t>
            </a:r>
            <a:endParaRPr lang="en-US" sz="1400" dirty="0"/>
          </a:p>
        </p:txBody>
      </p:sp>
      <p:sp>
        <p:nvSpPr>
          <p:cNvPr id="16" name="Ejemplo"/>
          <p:cNvSpPr/>
          <p:nvPr/>
        </p:nvSpPr>
        <p:spPr>
          <a:xfrm>
            <a:off x="457200" y="4023360"/>
            <a:ext cx="43891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17" name="Texto ejemplo"/>
          <p:cNvSpPr txBox="1"/>
          <p:nvPr/>
        </p:nvSpPr>
        <p:spPr>
          <a:xfrm>
            <a:off x="594360" y="4023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Ejemplo: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u de Mate 120 ml a S/ 30 la docena = S/ 15</a:t>
            </a:r>
            <a:endParaRPr lang="en-US" sz="1400" dirty="0"/>
          </a:p>
        </p:txBody>
      </p:sp>
      <p:sp>
        <p:nvSpPr>
          <p:cNvPr id="18" name="Marco vend-producto-unidades"/>
          <p:cNvSpPr/>
          <p:nvPr/>
        </p:nvSpPr>
        <p:spPr>
          <a:xfrm>
            <a:off x="597103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19" name="Captura vend-producto-unidades" descr="Pantalla de la aplicación: vend producto unidad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914400"/>
            <a:ext cx="1711250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Carrito, pago y confirmación</a:t>
            </a:r>
            <a:endParaRPr lang="en-US" sz="2800" dirty="0"/>
          </a:p>
        </p:txBody>
      </p:sp>
      <p:sp>
        <p:nvSpPr>
          <p:cNvPr id="4" name="Marco vend-carrito"/>
          <p:cNvSpPr/>
          <p:nvPr/>
        </p:nvSpPr>
        <p:spPr>
          <a:xfrm>
            <a:off x="48463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5" name="Captura vend-carrito" descr="Pantalla de la aplicación: vend carri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1711250" cy="3703320"/>
          </a:xfrm>
          <a:prstGeom prst="rect">
            <a:avLst/>
          </a:prstGeom>
        </p:spPr>
      </p:pic>
      <p:sp>
        <p:nvSpPr>
          <p:cNvPr id="6" name="Tarjeta Contado"/>
          <p:cNvSpPr/>
          <p:nvPr/>
        </p:nvSpPr>
        <p:spPr>
          <a:xfrm>
            <a:off x="2834640" y="914400"/>
            <a:ext cx="28346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7" name="Texto Contado"/>
          <p:cNvSpPr txBox="1"/>
          <p:nvPr/>
        </p:nvSpPr>
        <p:spPr>
          <a:xfrm>
            <a:off x="2971800" y="10058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Contado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Contra entrega: se cobra cuando está Entregado.</a:t>
            </a:r>
            <a:endParaRPr lang="en-US" sz="1400" dirty="0"/>
          </a:p>
        </p:txBody>
      </p:sp>
      <p:sp>
        <p:nvSpPr>
          <p:cNvPr id="8" name="Tarjeta Crédito"/>
          <p:cNvSpPr/>
          <p:nvPr/>
        </p:nvSpPr>
        <p:spPr>
          <a:xfrm>
            <a:off x="2834640" y="2194560"/>
            <a:ext cx="28346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9" name="Texto Crédito"/>
          <p:cNvSpPr txBox="1"/>
          <p:nvPr/>
        </p:nvSpPr>
        <p:spPr>
          <a:xfrm>
            <a:off x="2971800" y="22860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Crédito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7, 15 o 30 días, u «Otra fecha» para el vencimiento.</a:t>
            </a:r>
            <a:endParaRPr lang="en-US" sz="1400" dirty="0"/>
          </a:p>
        </p:txBody>
      </p:sp>
      <p:sp>
        <p:nvSpPr>
          <p:cNvPr id="10" name="Tarjeta Adelanto"/>
          <p:cNvSpPr/>
          <p:nvPr/>
        </p:nvSpPr>
        <p:spPr>
          <a:xfrm>
            <a:off x="2834640" y="3474720"/>
            <a:ext cx="28346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11" name="Texto Adelanto"/>
          <p:cNvSpPr txBox="1"/>
          <p:nvPr/>
        </p:nvSpPr>
        <p:spPr>
          <a:xfrm>
            <a:off x="2971800" y="35661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Adelanto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Paga antes; se registra cuando el pedido pasa al Taller.</a:t>
            </a:r>
            <a:endParaRPr lang="en-US" sz="1400" dirty="0"/>
          </a:p>
        </p:txBody>
      </p:sp>
      <p:sp>
        <p:nvSpPr>
          <p:cNvPr id="12" name="Paso 1"/>
          <p:cNvSpPr/>
          <p:nvPr/>
        </p:nvSpPr>
        <p:spPr>
          <a:xfrm>
            <a:off x="5943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úmero 1"/>
          <p:cNvSpPr txBox="1"/>
          <p:nvPr/>
        </p:nvSpPr>
        <p:spPr>
          <a:xfrm>
            <a:off x="5943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o paso 1"/>
          <p:cNvSpPr txBox="1"/>
          <p:nvPr/>
        </p:nvSpPr>
        <p:spPr>
          <a:xfrm>
            <a:off x="6464808" y="1014984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Revisa cantidades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+ y − en cada línea</a:t>
            </a:r>
            <a:endParaRPr lang="en-US" sz="1300" dirty="0"/>
          </a:p>
        </p:txBody>
      </p:sp>
      <p:sp>
        <p:nvSpPr>
          <p:cNvPr id="15" name="Paso 2"/>
          <p:cNvSpPr/>
          <p:nvPr/>
        </p:nvSpPr>
        <p:spPr>
          <a:xfrm>
            <a:off x="5943600" y="210312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Número 2"/>
          <p:cNvSpPr txBox="1"/>
          <p:nvPr/>
        </p:nvSpPr>
        <p:spPr>
          <a:xfrm>
            <a:off x="594360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o paso 2"/>
          <p:cNvSpPr txBox="1"/>
          <p:nvPr/>
        </p:nvSpPr>
        <p:spPr>
          <a:xfrm>
            <a:off x="6464808" y="2066544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Completa los datos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Canal, entrega y notas</a:t>
            </a:r>
            <a:endParaRPr lang="en-US" sz="1300" dirty="0"/>
          </a:p>
        </p:txBody>
      </p:sp>
      <p:sp>
        <p:nvSpPr>
          <p:cNvPr id="18" name="Paso 3"/>
          <p:cNvSpPr/>
          <p:nvPr/>
        </p:nvSpPr>
        <p:spPr>
          <a:xfrm>
            <a:off x="5943600" y="31546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Número 3"/>
          <p:cNvSpPr txBox="1"/>
          <p:nvPr/>
        </p:nvSpPr>
        <p:spPr>
          <a:xfrm>
            <a:off x="594360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o paso 3"/>
          <p:cNvSpPr txBox="1"/>
          <p:nvPr/>
        </p:nvSpPr>
        <p:spPr>
          <a:xfrm>
            <a:off x="6464808" y="3118104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Confirmar pedido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Queda Recibido con su número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Si tu pedido vuelve a revisión</a:t>
            </a:r>
            <a:endParaRPr lang="en-US" sz="2800" dirty="0"/>
          </a:p>
        </p:txBody>
      </p:sp>
      <p:sp>
        <p:nvSpPr>
          <p:cNvPr id="4" name="Marco vend-alerta-urgente"/>
          <p:cNvSpPr/>
          <p:nvPr/>
        </p:nvSpPr>
        <p:spPr>
          <a:xfrm>
            <a:off x="48463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5" name="Captura vend-alerta-urgente" descr="Pantalla de la aplicación: vend alerta urg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1711250" cy="3703320"/>
          </a:xfrm>
          <a:prstGeom prst="rect">
            <a:avLst/>
          </a:prstGeom>
        </p:spPr>
      </p:pic>
      <p:sp>
        <p:nvSpPr>
          <p:cNvPr id="6" name="Marco vend-pedido-revision"/>
          <p:cNvSpPr/>
          <p:nvPr/>
        </p:nvSpPr>
        <p:spPr>
          <a:xfrm>
            <a:off x="249631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7" name="Captura vend-pedido-revision" descr="Pantalla de la aplicación: vend pedido revis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914400"/>
            <a:ext cx="1711250" cy="3703320"/>
          </a:xfrm>
          <a:prstGeom prst="rect">
            <a:avLst/>
          </a:prstGeom>
        </p:spPr>
      </p:pic>
      <p:sp>
        <p:nvSpPr>
          <p:cNvPr id="8" name="Paso 1"/>
          <p:cNvSpPr/>
          <p:nvPr/>
        </p:nvSpPr>
        <p:spPr>
          <a:xfrm>
            <a:off x="484632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úmero 1"/>
          <p:cNvSpPr txBox="1"/>
          <p:nvPr/>
        </p:nvSpPr>
        <p:spPr>
          <a:xfrm>
            <a:off x="484632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o paso 1"/>
          <p:cNvSpPr txBox="1"/>
          <p:nvPr/>
        </p:nvSpPr>
        <p:spPr>
          <a:xfrm>
            <a:off x="5367528" y="1014984"/>
            <a:ext cx="3319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Lee el motivo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Franja roja → Ver pedido</a:t>
            </a:r>
            <a:endParaRPr lang="en-US" sz="1400" dirty="0"/>
          </a:p>
        </p:txBody>
      </p:sp>
      <p:sp>
        <p:nvSpPr>
          <p:cNvPr id="11" name="Paso 2"/>
          <p:cNvSpPr/>
          <p:nvPr/>
        </p:nvSpPr>
        <p:spPr>
          <a:xfrm>
            <a:off x="4846320" y="201168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Número 2"/>
          <p:cNvSpPr txBox="1"/>
          <p:nvPr/>
        </p:nvSpPr>
        <p:spPr>
          <a:xfrm>
            <a:off x="48463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o paso 2"/>
          <p:cNvSpPr txBox="1"/>
          <p:nvPr/>
        </p:nvSpPr>
        <p:spPr>
          <a:xfrm>
            <a:off x="5367528" y="1975104"/>
            <a:ext cx="3319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Modificar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Cambia cantidades, productos o datos y guarda</a:t>
            </a:r>
            <a:endParaRPr lang="en-US" sz="1400" dirty="0"/>
          </a:p>
        </p:txBody>
      </p:sp>
      <p:sp>
        <p:nvSpPr>
          <p:cNvPr id="14" name="Paso 3"/>
          <p:cNvSpPr/>
          <p:nvPr/>
        </p:nvSpPr>
        <p:spPr>
          <a:xfrm>
            <a:off x="4846320" y="2971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Número 3"/>
          <p:cNvSpPr txBox="1"/>
          <p:nvPr/>
        </p:nvSpPr>
        <p:spPr>
          <a:xfrm>
            <a:off x="48463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o paso 3"/>
          <p:cNvSpPr txBox="1"/>
          <p:nvPr/>
        </p:nvSpPr>
        <p:spPr>
          <a:xfrm>
            <a:off x="5367528" y="2935224"/>
            <a:ext cx="3319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Corregido, reenviar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Vuelve a Administración para pasar al Taller</a:t>
            </a:r>
            <a:endParaRPr lang="en-US" sz="1400" dirty="0"/>
          </a:p>
        </p:txBody>
      </p:sp>
      <p:sp>
        <p:nvSpPr>
          <p:cNvPr id="17" name="Nota"/>
          <p:cNvSpPr txBox="1"/>
          <p:nvPr/>
        </p:nvSpPr>
        <p:spPr>
          <a:xfrm>
            <a:off x="4846320" y="4069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Mientras esté Recibido, también puedes modificarlo tú.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Entregar y cobrar</a:t>
            </a:r>
            <a:endParaRPr lang="en-US" sz="2800" dirty="0"/>
          </a:p>
        </p:txBody>
      </p:sp>
      <p:sp>
        <p:nvSpPr>
          <p:cNvPr id="4" name="Marco vend-pedido-entregado"/>
          <p:cNvSpPr/>
          <p:nvPr/>
        </p:nvSpPr>
        <p:spPr>
          <a:xfrm>
            <a:off x="48463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5" name="Captura vend-pedido-entregado" descr="Pantalla de la aplicación: vend pedido entreg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1711250" cy="3703320"/>
          </a:xfrm>
          <a:prstGeom prst="rect">
            <a:avLst/>
          </a:prstGeom>
        </p:spPr>
      </p:pic>
      <p:sp>
        <p:nvSpPr>
          <p:cNvPr id="6" name="Marco vend-cobros"/>
          <p:cNvSpPr/>
          <p:nvPr/>
        </p:nvSpPr>
        <p:spPr>
          <a:xfrm>
            <a:off x="249631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7" name="Captura vend-cobros" descr="Pantalla de la aplicación: vend cobr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914400"/>
            <a:ext cx="1711250" cy="3703320"/>
          </a:xfrm>
          <a:prstGeom prst="rect">
            <a:avLst/>
          </a:prstGeom>
        </p:spPr>
      </p:pic>
      <p:sp>
        <p:nvSpPr>
          <p:cNvPr id="8" name="Paso 1"/>
          <p:cNvSpPr/>
          <p:nvPr/>
        </p:nvSpPr>
        <p:spPr>
          <a:xfrm>
            <a:off x="484632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úmero 1"/>
          <p:cNvSpPr txBox="1"/>
          <p:nvPr/>
        </p:nvSpPr>
        <p:spPr>
          <a:xfrm>
            <a:off x="484632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o paso 1"/>
          <p:cNvSpPr txBox="1"/>
          <p:nvPr/>
        </p:nvSpPr>
        <p:spPr>
          <a:xfrm>
            <a:off x="5367528" y="1014984"/>
            <a:ext cx="3319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Marcar entregado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 tu pedido despachado, al entregarlo</a:t>
            </a:r>
            <a:endParaRPr lang="en-US" sz="1400" dirty="0"/>
          </a:p>
        </p:txBody>
      </p:sp>
      <p:sp>
        <p:nvSpPr>
          <p:cNvPr id="11" name="Paso 2"/>
          <p:cNvSpPr/>
          <p:nvPr/>
        </p:nvSpPr>
        <p:spPr>
          <a:xfrm>
            <a:off x="4846320" y="205740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Número 2"/>
          <p:cNvSpPr txBox="1"/>
          <p:nvPr/>
        </p:nvSpPr>
        <p:spPr>
          <a:xfrm>
            <a:off x="48463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o paso 2"/>
          <p:cNvSpPr txBox="1"/>
          <p:nvPr/>
        </p:nvSpPr>
        <p:spPr>
          <a:xfrm>
            <a:off x="5367528" y="2020824"/>
            <a:ext cx="3319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Registrar cobro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Monto, medio (Yape, efectivo…) y fecha. Sale un recibo</a:t>
            </a:r>
            <a:endParaRPr lang="en-US" sz="1400" dirty="0"/>
          </a:p>
        </p:txBody>
      </p:sp>
      <p:sp>
        <p:nvSpPr>
          <p:cNvPr id="14" name="Paso 3"/>
          <p:cNvSpPr/>
          <p:nvPr/>
        </p:nvSpPr>
        <p:spPr>
          <a:xfrm>
            <a:off x="4846320" y="30632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Número 3"/>
          <p:cNvSpPr txBox="1"/>
          <p:nvPr/>
        </p:nvSpPr>
        <p:spPr>
          <a:xfrm>
            <a:off x="48463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o paso 3"/>
          <p:cNvSpPr txBox="1"/>
          <p:nvPr/>
        </p:nvSpPr>
        <p:spPr>
          <a:xfrm>
            <a:off x="5367528" y="3026664"/>
            <a:ext cx="3319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Entrega el dinero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Queda «Por entregar» hasta que Administración lo confirma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Tus clientes</a:t>
            </a:r>
            <a:endParaRPr lang="en-US" sz="2800" dirty="0"/>
          </a:p>
        </p:txBody>
      </p:sp>
      <p:sp>
        <p:nvSpPr>
          <p:cNvPr id="4" name="Marco vend-ficha-cliente"/>
          <p:cNvSpPr/>
          <p:nvPr/>
        </p:nvSpPr>
        <p:spPr>
          <a:xfrm>
            <a:off x="48463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5" name="Captura vend-ficha-cliente" descr="Pantalla de la aplicación: vend ficha cli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1711250" cy="3703320"/>
          </a:xfrm>
          <a:prstGeom prst="rect">
            <a:avLst/>
          </a:prstGeom>
        </p:spPr>
      </p:pic>
      <p:sp>
        <p:nvSpPr>
          <p:cNvPr id="6" name="Tarjeta Puedes"/>
          <p:cNvSpPr/>
          <p:nvPr/>
        </p:nvSpPr>
        <p:spPr>
          <a:xfrm>
            <a:off x="2834640" y="914400"/>
            <a:ext cx="58521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7" name="Texto Puedes"/>
          <p:cNvSpPr txBox="1"/>
          <p:nvPr/>
        </p:nvSpPr>
        <p:spPr>
          <a:xfrm>
            <a:off x="2971800" y="10058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Puedes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Crear clientes, completar teléfono, dirección, DNI o RUC, y poner el primer precio.</a:t>
            </a:r>
            <a:endParaRPr lang="en-US" sz="1500" dirty="0"/>
          </a:p>
        </p:txBody>
      </p:sp>
      <p:sp>
        <p:nvSpPr>
          <p:cNvPr id="8" name="Tarjeta No puedes"/>
          <p:cNvSpPr/>
          <p:nvPr/>
        </p:nvSpPr>
        <p:spPr>
          <a:xfrm>
            <a:off x="2834640" y="2148840"/>
            <a:ext cx="58521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9" name="Texto No puedes"/>
          <p:cNvSpPr txBox="1"/>
          <p:nvPr/>
        </p:nvSpPr>
        <p:spPr>
          <a:xfrm>
            <a:off x="2971800" y="224028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No puedes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Cambiar un precio que ya existe, el vendedor del cliente ni su límite de crédito: avisa a Administración.</a:t>
            </a:r>
            <a:endParaRPr lang="en-US" sz="1500" dirty="0"/>
          </a:p>
        </p:txBody>
      </p:sp>
      <p:sp>
        <p:nvSpPr>
          <p:cNvPr id="10" name="Tarjeta Todo queda informado"/>
          <p:cNvSpPr/>
          <p:nvPr/>
        </p:nvSpPr>
        <p:spPr>
          <a:xfrm>
            <a:off x="2834640" y="3383280"/>
            <a:ext cx="58521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11" name="Texto Todo queda informado"/>
          <p:cNvSpPr txBox="1"/>
          <p:nvPr/>
        </p:nvSpPr>
        <p:spPr>
          <a:xfrm>
            <a:off x="2971800" y="347472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Todo queda informado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Socios, Administración y Desarrollador ven cada cambio en Novedades.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Administración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231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Controlas los pedidos antes del Taller, los clientes y precios, el dinero que llega y las compras.</a:t>
            </a:r>
            <a:endParaRPr lang="en-US" sz="1800" dirty="0"/>
          </a:p>
        </p:txBody>
      </p:sp>
      <p:sp>
        <p:nvSpPr>
          <p:cNvPr id="4" name="Tarjeta perfil"/>
          <p:cNvSpPr/>
          <p:nvPr/>
        </p:nvSpPr>
        <p:spPr>
          <a:xfrm>
            <a:off x="6583680" y="1417320"/>
            <a:ext cx="2011680" cy="237744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Logo" descr="/home/claude/pinturas-liz-app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600200"/>
            <a:ext cx="1554480" cy="1161288"/>
          </a:xfrm>
          <a:prstGeom prst="rect">
            <a:avLst/>
          </a:prstGeom>
        </p:spPr>
      </p:pic>
      <p:sp>
        <p:nvSpPr>
          <p:cNvPr id="6" name="Quién"/>
          <p:cNvSpPr txBox="1"/>
          <p:nvPr/>
        </p:nvSpPr>
        <p:spPr>
          <a:xfrm>
            <a:off x="6675120" y="2880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Angelina Rodas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Revisa y envía los pedidos</a:t>
            </a:r>
            <a:endParaRPr lang="en-US" sz="2800" dirty="0"/>
          </a:p>
        </p:txBody>
      </p:sp>
      <p:sp>
        <p:nvSpPr>
          <p:cNvPr id="4" name="Marco adm-pedido-recibido"/>
          <p:cNvSpPr/>
          <p:nvPr/>
        </p:nvSpPr>
        <p:spPr>
          <a:xfrm>
            <a:off x="420624" y="1014984"/>
            <a:ext cx="4096512" cy="2587752"/>
          </a:xfrm>
          <a:prstGeom prst="roundRect">
            <a:avLst>
              <a:gd name="adj" fmla="val 2120"/>
            </a:avLst>
          </a:prstGeom>
          <a:solidFill>
            <a:schemeClr val="bg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5" name="Captura adm-pedido-recibido" descr="Pantalla de la aplicación: adm pedido recib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023360" cy="2514600"/>
          </a:xfrm>
          <a:prstGeom prst="rect">
            <a:avLst/>
          </a:prstGeom>
        </p:spPr>
      </p:pic>
      <p:sp>
        <p:nvSpPr>
          <p:cNvPr id="6" name="Paso 1"/>
          <p:cNvSpPr/>
          <p:nvPr/>
        </p:nvSpPr>
        <p:spPr>
          <a:xfrm>
            <a:off x="4754880" y="1005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úmero 1"/>
          <p:cNvSpPr txBox="1"/>
          <p:nvPr/>
        </p:nvSpPr>
        <p:spPr>
          <a:xfrm>
            <a:off x="475488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o paso 1"/>
          <p:cNvSpPr txBox="1"/>
          <p:nvPr/>
        </p:nvSpPr>
        <p:spPr>
          <a:xfrm>
            <a:off x="5276088" y="969264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Abre el pedido Recibido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Revisa cliente, productos, precios y pago</a:t>
            </a:r>
            <a:endParaRPr lang="en-US" sz="1300" dirty="0"/>
          </a:p>
        </p:txBody>
      </p:sp>
      <p:sp>
        <p:nvSpPr>
          <p:cNvPr id="9" name="Paso 2"/>
          <p:cNvSpPr/>
          <p:nvPr/>
        </p:nvSpPr>
        <p:spPr>
          <a:xfrm>
            <a:off x="4754880" y="173736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Número 2"/>
          <p:cNvSpPr txBox="1"/>
          <p:nvPr/>
        </p:nvSpPr>
        <p:spPr>
          <a:xfrm>
            <a:off x="47548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o paso 2"/>
          <p:cNvSpPr txBox="1"/>
          <p:nvPr/>
        </p:nvSpPr>
        <p:spPr>
          <a:xfrm>
            <a:off x="5276088" y="1700784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Enviar al taller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Si todo está bien</a:t>
            </a:r>
            <a:endParaRPr lang="en-US" sz="1300" dirty="0"/>
          </a:p>
        </p:txBody>
      </p:sp>
      <p:sp>
        <p:nvSpPr>
          <p:cNvPr id="12" name="Paso 3"/>
          <p:cNvSpPr/>
          <p:nvPr/>
        </p:nvSpPr>
        <p:spPr>
          <a:xfrm>
            <a:off x="4754880" y="2468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úmero 3"/>
          <p:cNvSpPr txBox="1"/>
          <p:nvPr/>
        </p:nvSpPr>
        <p:spPr>
          <a:xfrm>
            <a:off x="475488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o paso 3"/>
          <p:cNvSpPr txBox="1"/>
          <p:nvPr/>
        </p:nvSpPr>
        <p:spPr>
          <a:xfrm>
            <a:off x="5276088" y="2432304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Modificar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Si lo corriges tú; queda en el seguimiento</a:t>
            </a:r>
            <a:endParaRPr lang="en-US" sz="1300" dirty="0"/>
          </a:p>
        </p:txBody>
      </p:sp>
      <p:sp>
        <p:nvSpPr>
          <p:cNvPr id="15" name="Paso 4"/>
          <p:cNvSpPr/>
          <p:nvPr/>
        </p:nvSpPr>
        <p:spPr>
          <a:xfrm>
            <a:off x="4754880" y="320040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Número 4"/>
          <p:cNvSpPr txBox="1"/>
          <p:nvPr/>
        </p:nvSpPr>
        <p:spPr>
          <a:xfrm>
            <a:off x="47548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o paso 4"/>
          <p:cNvSpPr txBox="1"/>
          <p:nvPr/>
        </p:nvSpPr>
        <p:spPr>
          <a:xfrm>
            <a:off x="5276088" y="3163824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Enviar a revisión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Si debe corregirlo quien lo registró</a:t>
            </a:r>
            <a:endParaRPr lang="en-US" sz="1300" dirty="0"/>
          </a:p>
        </p:txBody>
      </p:sp>
      <p:sp>
        <p:nvSpPr>
          <p:cNvPr id="18" name="Paso 5"/>
          <p:cNvSpPr/>
          <p:nvPr/>
        </p:nvSpPr>
        <p:spPr>
          <a:xfrm>
            <a:off x="4754880" y="393192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Número 5"/>
          <p:cNvSpPr txBox="1"/>
          <p:nvPr/>
        </p:nvSpPr>
        <p:spPr>
          <a:xfrm>
            <a:off x="475488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o paso 5"/>
          <p:cNvSpPr txBox="1"/>
          <p:nvPr/>
        </p:nvSpPr>
        <p:spPr>
          <a:xfrm>
            <a:off x="5276088" y="3895344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Anular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Solo si se cancela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Revisión y consolidado</a:t>
            </a:r>
            <a:endParaRPr lang="en-US" sz="2800" dirty="0"/>
          </a:p>
        </p:txBody>
      </p:sp>
      <p:sp>
        <p:nvSpPr>
          <p:cNvPr id="4" name="Marco adm-enviar-revision"/>
          <p:cNvSpPr/>
          <p:nvPr/>
        </p:nvSpPr>
        <p:spPr>
          <a:xfrm>
            <a:off x="420624" y="923544"/>
            <a:ext cx="3584448" cy="2267712"/>
          </a:xfrm>
          <a:prstGeom prst="roundRect">
            <a:avLst>
              <a:gd name="adj" fmla="val 2419"/>
            </a:avLst>
          </a:prstGeom>
          <a:solidFill>
            <a:schemeClr val="bg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5" name="Captura adm-enviar-revision" descr="Pantalla de la aplicación: adm enviar revi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3511296" cy="2194560"/>
          </a:xfrm>
          <a:prstGeom prst="rect">
            <a:avLst/>
          </a:prstGeom>
        </p:spPr>
      </p:pic>
      <p:sp>
        <p:nvSpPr>
          <p:cNvPr id="6" name="Marco adm-consolidado"/>
          <p:cNvSpPr/>
          <p:nvPr/>
        </p:nvSpPr>
        <p:spPr>
          <a:xfrm>
            <a:off x="4626864" y="923544"/>
            <a:ext cx="3584448" cy="2267712"/>
          </a:xfrm>
          <a:prstGeom prst="roundRect">
            <a:avLst>
              <a:gd name="adj" fmla="val 2419"/>
            </a:avLst>
          </a:prstGeom>
          <a:solidFill>
            <a:schemeClr val="bg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7" name="Captura adm-consolidado" descr="Pantalla de la aplicación: adm consolid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60120"/>
            <a:ext cx="3511296" cy="2194560"/>
          </a:xfrm>
          <a:prstGeom prst="rect">
            <a:avLst/>
          </a:prstGeom>
        </p:spPr>
      </p:pic>
      <p:sp>
        <p:nvSpPr>
          <p:cNvPr id="8" name="Tarjeta Enviar a revisión"/>
          <p:cNvSpPr/>
          <p:nvPr/>
        </p:nvSpPr>
        <p:spPr>
          <a:xfrm>
            <a:off x="457200" y="347472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9" name="Texto Enviar a revisión"/>
          <p:cNvSpPr txBox="1"/>
          <p:nvPr/>
        </p:nvSpPr>
        <p:spPr>
          <a:xfrm>
            <a:off x="594360" y="35661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Enviar a revisión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Escribe el motivo. A quien lo registró le llega una alerta roja.</a:t>
            </a:r>
            <a:endParaRPr lang="en-US" sz="1400" dirty="0"/>
          </a:p>
        </p:txBody>
      </p:sp>
      <p:sp>
        <p:nvSpPr>
          <p:cNvPr id="10" name="Tarjeta Si la pide el Taller"/>
          <p:cNvSpPr/>
          <p:nvPr/>
        </p:nvSpPr>
        <p:spPr>
          <a:xfrm>
            <a:off x="4663440" y="347472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11" name="Texto Si la pide el Taller"/>
          <p:cNvSpPr txBox="1"/>
          <p:nvPr/>
        </p:nvSpPr>
        <p:spPr>
          <a:xfrm>
            <a:off x="4800600" y="35661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Si la pide el Taller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La ves tú primero: corrígelo, devuélvelo a quien lo registró o envíalo de nuevo al Taller.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Cobros y cuadre del dinero</a:t>
            </a:r>
            <a:endParaRPr lang="en-US" sz="2800" dirty="0"/>
          </a:p>
        </p:txBody>
      </p:sp>
      <p:sp>
        <p:nvSpPr>
          <p:cNvPr id="4" name="Marco adm-cobros-cuadre"/>
          <p:cNvSpPr/>
          <p:nvPr/>
        </p:nvSpPr>
        <p:spPr>
          <a:xfrm>
            <a:off x="420624" y="923544"/>
            <a:ext cx="3877056" cy="2450592"/>
          </a:xfrm>
          <a:prstGeom prst="roundRect">
            <a:avLst>
              <a:gd name="adj" fmla="val 2239"/>
            </a:avLst>
          </a:prstGeom>
          <a:solidFill>
            <a:schemeClr val="bg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5" name="Captura adm-cobros-cuadre" descr="Pantalla de la aplicación: adm cobros cuad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3803904" cy="2377440"/>
          </a:xfrm>
          <a:prstGeom prst="rect">
            <a:avLst/>
          </a:prstGeom>
        </p:spPr>
      </p:pic>
      <p:sp>
        <p:nvSpPr>
          <p:cNvPr id="6" name="Paso 1"/>
          <p:cNvSpPr/>
          <p:nvPr/>
        </p:nvSpPr>
        <p:spPr>
          <a:xfrm>
            <a:off x="4937760" y="1005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úmero 1"/>
          <p:cNvSpPr txBox="1"/>
          <p:nvPr/>
        </p:nvSpPr>
        <p:spPr>
          <a:xfrm>
            <a:off x="493776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o paso 1"/>
          <p:cNvSpPr txBox="1"/>
          <p:nvPr/>
        </p:nvSpPr>
        <p:spPr>
          <a:xfrm>
            <a:off x="5458968" y="969264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Mira el cuadre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Cuánto debe entregar cada vendedor</a:t>
            </a:r>
            <a:endParaRPr lang="en-US" sz="1400" dirty="0"/>
          </a:p>
        </p:txBody>
      </p:sp>
      <p:sp>
        <p:nvSpPr>
          <p:cNvPr id="9" name="Paso 2"/>
          <p:cNvSpPr/>
          <p:nvPr/>
        </p:nvSpPr>
        <p:spPr>
          <a:xfrm>
            <a:off x="4937760" y="187452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Número 2"/>
          <p:cNvSpPr txBox="1"/>
          <p:nvPr/>
        </p:nvSpPr>
        <p:spPr>
          <a:xfrm>
            <a:off x="493776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o paso 2"/>
          <p:cNvSpPr txBox="1"/>
          <p:nvPr/>
        </p:nvSpPr>
        <p:spPr>
          <a:xfrm>
            <a:off x="5458968" y="1837944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Confirmar recibido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Cuando el dinero llega a Administración</a:t>
            </a:r>
            <a:endParaRPr lang="en-US" sz="1400" dirty="0"/>
          </a:p>
        </p:txBody>
      </p:sp>
      <p:sp>
        <p:nvSpPr>
          <p:cNvPr id="12" name="Paso 3"/>
          <p:cNvSpPr/>
          <p:nvPr/>
        </p:nvSpPr>
        <p:spPr>
          <a:xfrm>
            <a:off x="4937760" y="27432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úmero 3"/>
          <p:cNvSpPr txBox="1"/>
          <p:nvPr/>
        </p:nvSpPr>
        <p:spPr>
          <a:xfrm>
            <a:off x="493776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o paso 3"/>
          <p:cNvSpPr txBox="1"/>
          <p:nvPr/>
        </p:nvSpPr>
        <p:spPr>
          <a:xfrm>
            <a:off x="5458968" y="2706624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Anular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Si un cobro está mal registrado</a:t>
            </a:r>
            <a:endParaRPr lang="en-US" sz="1400" dirty="0"/>
          </a:p>
        </p:txBody>
      </p:sp>
      <p:sp>
        <p:nvSpPr>
          <p:cNvPr id="15" name="Paso 4"/>
          <p:cNvSpPr/>
          <p:nvPr/>
        </p:nvSpPr>
        <p:spPr>
          <a:xfrm>
            <a:off x="4937760" y="36118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Número 4"/>
          <p:cNvSpPr txBox="1"/>
          <p:nvPr/>
        </p:nvSpPr>
        <p:spPr>
          <a:xfrm>
            <a:off x="493776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o paso 4"/>
          <p:cNvSpPr txBox="1"/>
          <p:nvPr/>
        </p:nvSpPr>
        <p:spPr>
          <a:xfrm>
            <a:off x="5458968" y="3575304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Clientes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Deuda y deuda vencida por cliente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Clientes, precios y novedades</a:t>
            </a:r>
            <a:endParaRPr lang="en-US" sz="2800" dirty="0"/>
          </a:p>
        </p:txBody>
      </p:sp>
      <p:sp>
        <p:nvSpPr>
          <p:cNvPr id="4" name="Marco adm-ficha-cliente"/>
          <p:cNvSpPr/>
          <p:nvPr/>
        </p:nvSpPr>
        <p:spPr>
          <a:xfrm>
            <a:off x="420624" y="923544"/>
            <a:ext cx="3584448" cy="2267712"/>
          </a:xfrm>
          <a:prstGeom prst="roundRect">
            <a:avLst>
              <a:gd name="adj" fmla="val 2419"/>
            </a:avLst>
          </a:prstGeom>
          <a:solidFill>
            <a:schemeClr val="bg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5" name="Captura adm-ficha-cliente" descr="Pantalla de la aplicación: adm ficha cli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3511296" cy="2194560"/>
          </a:xfrm>
          <a:prstGeom prst="rect">
            <a:avLst/>
          </a:prstGeom>
        </p:spPr>
      </p:pic>
      <p:sp>
        <p:nvSpPr>
          <p:cNvPr id="6" name="Marco adm-novedades"/>
          <p:cNvSpPr/>
          <p:nvPr/>
        </p:nvSpPr>
        <p:spPr>
          <a:xfrm>
            <a:off x="4626864" y="923544"/>
            <a:ext cx="3584448" cy="2267712"/>
          </a:xfrm>
          <a:prstGeom prst="roundRect">
            <a:avLst>
              <a:gd name="adj" fmla="val 2419"/>
            </a:avLst>
          </a:prstGeom>
          <a:solidFill>
            <a:schemeClr val="bg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7" name="Captura adm-novedades" descr="Pantalla de la aplicación: adm novedad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60120"/>
            <a:ext cx="3511296" cy="2194560"/>
          </a:xfrm>
          <a:prstGeom prst="rect">
            <a:avLst/>
          </a:prstGeom>
        </p:spPr>
      </p:pic>
      <p:sp>
        <p:nvSpPr>
          <p:cNvPr id="8" name="Tarjeta Precios"/>
          <p:cNvSpPr/>
          <p:nvPr/>
        </p:nvSpPr>
        <p:spPr>
          <a:xfrm>
            <a:off x="457200" y="347472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9" name="Texto Precios"/>
          <p:cNvSpPr txBox="1"/>
          <p:nvPr/>
        </p:nvSpPr>
        <p:spPr>
          <a:xfrm>
            <a:off x="594360" y="35661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Precios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Cambia, programa un alza o quita un precio. Los pedidos ya registrados no cambian.</a:t>
            </a:r>
            <a:endParaRPr lang="en-US" sz="1400" dirty="0"/>
          </a:p>
        </p:txBody>
      </p:sp>
      <p:sp>
        <p:nvSpPr>
          <p:cNvPr id="10" name="Tarjeta Novedades (campana)"/>
          <p:cNvSpPr/>
          <p:nvPr/>
        </p:nvSpPr>
        <p:spPr>
          <a:xfrm>
            <a:off x="4663440" y="347472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11" name="Texto Novedades (campana)"/>
          <p:cNvSpPr txBox="1"/>
          <p:nvPr/>
        </p:nvSpPr>
        <p:spPr>
          <a:xfrm>
            <a:off x="4800600" y="35661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Novedades (campana)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Clientes nuevos o cambiados y precios del equipo, con quién lo hizo.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Compras de insumos y materiales</a:t>
            </a:r>
            <a:endParaRPr lang="en-US" sz="2800" dirty="0"/>
          </a:p>
        </p:txBody>
      </p:sp>
      <p:sp>
        <p:nvSpPr>
          <p:cNvPr id="4" name="Marco adm-almacen"/>
          <p:cNvSpPr/>
          <p:nvPr/>
        </p:nvSpPr>
        <p:spPr>
          <a:xfrm>
            <a:off x="420624" y="923544"/>
            <a:ext cx="4023360" cy="2542032"/>
          </a:xfrm>
          <a:prstGeom prst="roundRect">
            <a:avLst>
              <a:gd name="adj" fmla="val 2158"/>
            </a:avLst>
          </a:prstGeom>
          <a:solidFill>
            <a:schemeClr val="bg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5" name="Captura adm-almacen" descr="Pantalla de la aplicación: adm almac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3950208" cy="2468880"/>
          </a:xfrm>
          <a:prstGeom prst="rect">
            <a:avLst/>
          </a:prstGeom>
        </p:spPr>
      </p:pic>
      <p:sp>
        <p:nvSpPr>
          <p:cNvPr id="6" name="Paso 1"/>
          <p:cNvSpPr/>
          <p:nvPr/>
        </p:nvSpPr>
        <p:spPr>
          <a:xfrm>
            <a:off x="4937760" y="1005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úmero 1"/>
          <p:cNvSpPr txBox="1"/>
          <p:nvPr/>
        </p:nvSpPr>
        <p:spPr>
          <a:xfrm>
            <a:off x="493776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o paso 1"/>
          <p:cNvSpPr txBox="1"/>
          <p:nvPr/>
        </p:nvSpPr>
        <p:spPr>
          <a:xfrm>
            <a:off x="5458968" y="969264"/>
            <a:ext cx="3227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Nuevo artículo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Nombre, unidad y mínimo</a:t>
            </a:r>
            <a:endParaRPr lang="en-US" sz="1400" dirty="0"/>
          </a:p>
        </p:txBody>
      </p:sp>
      <p:sp>
        <p:nvSpPr>
          <p:cNvPr id="9" name="Paso 2"/>
          <p:cNvSpPr/>
          <p:nvPr/>
        </p:nvSpPr>
        <p:spPr>
          <a:xfrm>
            <a:off x="4937760" y="196596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Número 2"/>
          <p:cNvSpPr txBox="1"/>
          <p:nvPr/>
        </p:nvSpPr>
        <p:spPr>
          <a:xfrm>
            <a:off x="493776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o paso 2"/>
          <p:cNvSpPr txBox="1"/>
          <p:nvPr/>
        </p:nvSpPr>
        <p:spPr>
          <a:xfrm>
            <a:off x="5458968" y="1929384"/>
            <a:ext cx="3227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Registrar compra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Cantidad y factura o proveedor</a:t>
            </a:r>
            <a:endParaRPr lang="en-US" sz="1400" dirty="0"/>
          </a:p>
        </p:txBody>
      </p:sp>
      <p:sp>
        <p:nvSpPr>
          <p:cNvPr id="12" name="Paso 3"/>
          <p:cNvSpPr/>
          <p:nvPr/>
        </p:nvSpPr>
        <p:spPr>
          <a:xfrm>
            <a:off x="4937760" y="29260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úmero 3"/>
          <p:cNvSpPr txBox="1"/>
          <p:nvPr/>
        </p:nvSpPr>
        <p:spPr>
          <a:xfrm>
            <a:off x="493776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o paso 3"/>
          <p:cNvSpPr txBox="1"/>
          <p:nvPr/>
        </p:nvSpPr>
        <p:spPr>
          <a:xfrm>
            <a:off x="5458968" y="2889504"/>
            <a:ext cx="3227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Ajustar por conteo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Cuando el inventario físico no coincide</a:t>
            </a:r>
            <a:endParaRPr lang="en-US" sz="1400" dirty="0"/>
          </a:p>
        </p:txBody>
      </p:sp>
      <p:sp>
        <p:nvSpPr>
          <p:cNvPr id="15" name="Nota"/>
          <p:cNvSpPr txBox="1"/>
          <p:nvPr/>
        </p:nvSpPr>
        <p:spPr>
          <a:xfrm>
            <a:off x="4937760" y="40233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También marcas Listo y Despachas cuando hace falta.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Socios y Desarrollador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231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Ven y pueden hacer todo. Además: perfiles, medidas nuevas, límites de crédito y alertas. El Desarrollador evalúa las mejoras.</a:t>
            </a:r>
            <a:endParaRPr lang="en-US" sz="1800" dirty="0"/>
          </a:p>
        </p:txBody>
      </p:sp>
      <p:sp>
        <p:nvSpPr>
          <p:cNvPr id="4" name="Tarjeta perfil"/>
          <p:cNvSpPr/>
          <p:nvPr/>
        </p:nvSpPr>
        <p:spPr>
          <a:xfrm>
            <a:off x="6583680" y="1417320"/>
            <a:ext cx="2011680" cy="237744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Logo" descr="/home/claude/pinturas-liz-app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600200"/>
            <a:ext cx="1554480" cy="1161288"/>
          </a:xfrm>
          <a:prstGeom prst="rect">
            <a:avLst/>
          </a:prstGeom>
        </p:spPr>
      </p:pic>
      <p:sp>
        <p:nvSpPr>
          <p:cNvPr id="6" name="Quién"/>
          <p:cNvSpPr txBox="1"/>
          <p:nvPr/>
        </p:nvSpPr>
        <p:spPr>
          <a:xfrm>
            <a:off x="6675120" y="2880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Giovanni · Liz · Bryan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Jordan (Desarrollador)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Alertas, novedades y mejoras</a:t>
            </a:r>
            <a:endParaRPr lang="en-US" sz="2800" dirty="0"/>
          </a:p>
        </p:txBody>
      </p:sp>
      <p:sp>
        <p:nvSpPr>
          <p:cNvPr id="4" name="Marco socio-alertas"/>
          <p:cNvSpPr/>
          <p:nvPr/>
        </p:nvSpPr>
        <p:spPr>
          <a:xfrm>
            <a:off x="420624" y="923544"/>
            <a:ext cx="3730752" cy="2359152"/>
          </a:xfrm>
          <a:prstGeom prst="roundRect">
            <a:avLst>
              <a:gd name="adj" fmla="val 2326"/>
            </a:avLst>
          </a:prstGeom>
          <a:solidFill>
            <a:schemeClr val="bg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5" name="Captura socio-alertas" descr="Pantalla de la aplicación: socio aler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3657600" cy="2286000"/>
          </a:xfrm>
          <a:prstGeom prst="rect">
            <a:avLst/>
          </a:prstGeom>
        </p:spPr>
      </p:pic>
      <p:sp>
        <p:nvSpPr>
          <p:cNvPr id="6" name="Marco dev-mejoras"/>
          <p:cNvSpPr/>
          <p:nvPr/>
        </p:nvSpPr>
        <p:spPr>
          <a:xfrm>
            <a:off x="4626864" y="923544"/>
            <a:ext cx="3730752" cy="2359152"/>
          </a:xfrm>
          <a:prstGeom prst="roundRect">
            <a:avLst>
              <a:gd name="adj" fmla="val 2326"/>
            </a:avLst>
          </a:prstGeom>
          <a:solidFill>
            <a:schemeClr val="bg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7" name="Captura dev-mejoras" descr="Pantalla de la aplicación: dev mejor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60120"/>
            <a:ext cx="3657600" cy="2286000"/>
          </a:xfrm>
          <a:prstGeom prst="rect">
            <a:avLst/>
          </a:prstGeom>
        </p:spPr>
      </p:pic>
      <p:sp>
        <p:nvSpPr>
          <p:cNvPr id="8" name="Tarjeta Alertas"/>
          <p:cNvSpPr/>
          <p:nvPr/>
        </p:nvSpPr>
        <p:spPr>
          <a:xfrm>
            <a:off x="457200" y="347472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9" name="Texto Alertas"/>
          <p:cNvSpPr txBox="1"/>
          <p:nvPr/>
        </p:nvSpPr>
        <p:spPr>
          <a:xfrm>
            <a:off x="594360" y="35661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Alertas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Comenta, corrige el dato y marca resuelta. Solo socios y Desarrollador resuelven.</a:t>
            </a:r>
            <a:endParaRPr lang="en-US" sz="1400" dirty="0"/>
          </a:p>
        </p:txBody>
      </p:sp>
      <p:sp>
        <p:nvSpPr>
          <p:cNvPr id="10" name="Tarjeta Sugerencias de mejora"/>
          <p:cNvSpPr/>
          <p:nvPr/>
        </p:nvSpPr>
        <p:spPr>
          <a:xfrm>
            <a:off x="4663440" y="347472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D3DCEC"/>
            </a:solidFill>
            <a:prstDash val="solid"/>
          </a:ln>
        </p:spPr>
      </p:sp>
      <p:sp>
        <p:nvSpPr>
          <p:cNvPr id="11" name="Texto Sugerencias de mejora"/>
          <p:cNvSpPr txBox="1"/>
          <p:nvPr/>
        </p:nvSpPr>
        <p:spPr>
          <a:xfrm>
            <a:off x="4800600" y="35661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Sugerencias de mejora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Las envía cualquier perfil; el Desarrollador las evalúa para próximas versiones.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Usuarios y decisiones exclusivas</a:t>
            </a:r>
            <a:endParaRPr lang="en-US" sz="2800" dirty="0"/>
          </a:p>
        </p:txBody>
      </p:sp>
      <p:sp>
        <p:nvSpPr>
          <p:cNvPr id="4" name="Marco socio-usuarios"/>
          <p:cNvSpPr/>
          <p:nvPr/>
        </p:nvSpPr>
        <p:spPr>
          <a:xfrm>
            <a:off x="420624" y="923544"/>
            <a:ext cx="4023360" cy="2542032"/>
          </a:xfrm>
          <a:prstGeom prst="roundRect">
            <a:avLst>
              <a:gd name="adj" fmla="val 2158"/>
            </a:avLst>
          </a:prstGeom>
          <a:solidFill>
            <a:schemeClr val="bg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5" name="Captura socio-usuarios" descr="Pantalla de la aplicación: socio usuari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3950208" cy="2468880"/>
          </a:xfrm>
          <a:prstGeom prst="rect">
            <a:avLst/>
          </a:prstGeom>
        </p:spPr>
      </p:pic>
      <p:sp>
        <p:nvSpPr>
          <p:cNvPr id="6" name="Paso 1"/>
          <p:cNvSpPr/>
          <p:nvPr/>
        </p:nvSpPr>
        <p:spPr>
          <a:xfrm>
            <a:off x="4937760" y="1005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úmero 1"/>
          <p:cNvSpPr txBox="1"/>
          <p:nvPr/>
        </p:nvSpPr>
        <p:spPr>
          <a:xfrm>
            <a:off x="493776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o paso 1"/>
          <p:cNvSpPr txBox="1"/>
          <p:nvPr/>
        </p:nvSpPr>
        <p:spPr>
          <a:xfrm>
            <a:off x="5458968" y="969264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Asignar perfiles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Y activar o desactivar cuentas</a:t>
            </a:r>
            <a:endParaRPr lang="en-US" sz="1400" dirty="0"/>
          </a:p>
        </p:txBody>
      </p:sp>
      <p:sp>
        <p:nvSpPr>
          <p:cNvPr id="9" name="Paso 2"/>
          <p:cNvSpPr/>
          <p:nvPr/>
        </p:nvSpPr>
        <p:spPr>
          <a:xfrm>
            <a:off x="4937760" y="187452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Número 2"/>
          <p:cNvSpPr txBox="1"/>
          <p:nvPr/>
        </p:nvSpPr>
        <p:spPr>
          <a:xfrm>
            <a:off x="493776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o paso 2"/>
          <p:cNvSpPr txBox="1"/>
          <p:nvPr/>
        </p:nvSpPr>
        <p:spPr>
          <a:xfrm>
            <a:off x="5458968" y="1837944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Vincular vendedores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«Vende como» Jorge, Lily, Giovanni, Liz…</a:t>
            </a:r>
            <a:endParaRPr lang="en-US" sz="1400" dirty="0"/>
          </a:p>
        </p:txBody>
      </p:sp>
      <p:sp>
        <p:nvSpPr>
          <p:cNvPr id="12" name="Paso 3"/>
          <p:cNvSpPr/>
          <p:nvPr/>
        </p:nvSpPr>
        <p:spPr>
          <a:xfrm>
            <a:off x="4937760" y="27432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úmero 3"/>
          <p:cNvSpPr txBox="1"/>
          <p:nvPr/>
        </p:nvSpPr>
        <p:spPr>
          <a:xfrm>
            <a:off x="493776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o paso 3"/>
          <p:cNvSpPr txBox="1"/>
          <p:nvPr/>
        </p:nvSpPr>
        <p:spPr>
          <a:xfrm>
            <a:off x="5458968" y="2706624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Agregar medidas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Por ejemplo, la primera de un producto sin precio</a:t>
            </a:r>
            <a:endParaRPr lang="en-US" sz="1400" dirty="0"/>
          </a:p>
        </p:txBody>
      </p:sp>
      <p:sp>
        <p:nvSpPr>
          <p:cNvPr id="15" name="Paso 4"/>
          <p:cNvSpPr/>
          <p:nvPr/>
        </p:nvSpPr>
        <p:spPr>
          <a:xfrm>
            <a:off x="4937760" y="36118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Número 4"/>
          <p:cNvSpPr txBox="1"/>
          <p:nvPr/>
        </p:nvSpPr>
        <p:spPr>
          <a:xfrm>
            <a:off x="493776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o paso 4"/>
          <p:cNvSpPr txBox="1"/>
          <p:nvPr/>
        </p:nvSpPr>
        <p:spPr>
          <a:xfrm>
            <a:off x="5458968" y="3575304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Límite de crédito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Por cliente, en Cobranzas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Taller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231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Envasas, armas los pedidos, pides producción al Laboratorio, despachas y entregas.</a:t>
            </a:r>
            <a:endParaRPr lang="en-US" sz="1800" dirty="0"/>
          </a:p>
        </p:txBody>
      </p:sp>
      <p:sp>
        <p:nvSpPr>
          <p:cNvPr id="4" name="Tarjeta perfil"/>
          <p:cNvSpPr/>
          <p:nvPr/>
        </p:nvSpPr>
        <p:spPr>
          <a:xfrm>
            <a:off x="6583680" y="1417320"/>
            <a:ext cx="2011680" cy="237744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Logo" descr="/home/claude/pinturas-liz-app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600200"/>
            <a:ext cx="1554480" cy="1161288"/>
          </a:xfrm>
          <a:prstGeom prst="rect">
            <a:avLst/>
          </a:prstGeom>
        </p:spPr>
      </p:pic>
      <p:sp>
        <p:nvSpPr>
          <p:cNvPr id="6" name="Quién"/>
          <p:cNvSpPr txBox="1"/>
          <p:nvPr/>
        </p:nvSpPr>
        <p:spPr>
          <a:xfrm>
            <a:off x="6675120" y="2880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Encargado Taller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Qué envasar y registrar el envasado</a:t>
            </a:r>
            <a:endParaRPr lang="en-US" sz="2800" dirty="0"/>
          </a:p>
        </p:txBody>
      </p:sp>
      <p:sp>
        <p:nvSpPr>
          <p:cNvPr id="4" name="Marco taller-por-envasar"/>
          <p:cNvSpPr/>
          <p:nvPr/>
        </p:nvSpPr>
        <p:spPr>
          <a:xfrm>
            <a:off x="48463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5" name="Captura taller-por-envasar" descr="Pantalla de la aplicación: taller por envas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1711250" cy="3703320"/>
          </a:xfrm>
          <a:prstGeom prst="rect">
            <a:avLst/>
          </a:prstGeom>
        </p:spPr>
      </p:pic>
      <p:sp>
        <p:nvSpPr>
          <p:cNvPr id="6" name="Marco taller-envasados"/>
          <p:cNvSpPr/>
          <p:nvPr/>
        </p:nvSpPr>
        <p:spPr>
          <a:xfrm>
            <a:off x="249631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7" name="Captura taller-envasados" descr="Pantalla de la aplicación: taller envasad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914400"/>
            <a:ext cx="1711250" cy="3703320"/>
          </a:xfrm>
          <a:prstGeom prst="rect">
            <a:avLst/>
          </a:prstGeom>
        </p:spPr>
      </p:pic>
      <p:sp>
        <p:nvSpPr>
          <p:cNvPr id="8" name="Paso 1"/>
          <p:cNvSpPr/>
          <p:nvPr/>
        </p:nvSpPr>
        <p:spPr>
          <a:xfrm>
            <a:off x="4846320" y="1005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úmero 1"/>
          <p:cNvSpPr txBox="1"/>
          <p:nvPr/>
        </p:nvSpPr>
        <p:spPr>
          <a:xfrm>
            <a:off x="484632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o paso 1"/>
          <p:cNvSpPr txBox="1"/>
          <p:nvPr/>
        </p:nvSpPr>
        <p:spPr>
          <a:xfrm>
            <a:off x="5367528" y="969264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Por envasar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Frascos pendientes y bolsas a llenar</a:t>
            </a:r>
            <a:endParaRPr lang="en-US" sz="1400" dirty="0"/>
          </a:p>
        </p:txBody>
      </p:sp>
      <p:sp>
        <p:nvSpPr>
          <p:cNvPr id="11" name="Paso 2"/>
          <p:cNvSpPr/>
          <p:nvPr/>
        </p:nvSpPr>
        <p:spPr>
          <a:xfrm>
            <a:off x="4846320" y="187452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Número 2"/>
          <p:cNvSpPr txBox="1"/>
          <p:nvPr/>
        </p:nvSpPr>
        <p:spPr>
          <a:xfrm>
            <a:off x="484632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o paso 2"/>
          <p:cNvSpPr txBox="1"/>
          <p:nvPr/>
        </p:nvSpPr>
        <p:spPr>
          <a:xfrm>
            <a:off x="5367528" y="1837944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Registrar envasado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Color, medida y bolsas llenas</a:t>
            </a:r>
            <a:endParaRPr lang="en-US" sz="1400" dirty="0"/>
          </a:p>
        </p:txBody>
      </p:sp>
      <p:sp>
        <p:nvSpPr>
          <p:cNvPr id="14" name="Paso 3"/>
          <p:cNvSpPr/>
          <p:nvPr/>
        </p:nvSpPr>
        <p:spPr>
          <a:xfrm>
            <a:off x="4846320" y="27432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Número 3"/>
          <p:cNvSpPr txBox="1"/>
          <p:nvPr/>
        </p:nvSpPr>
        <p:spPr>
          <a:xfrm>
            <a:off x="484632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o paso 3"/>
          <p:cNvSpPr txBox="1"/>
          <p:nvPr/>
        </p:nvSpPr>
        <p:spPr>
          <a:xfrm>
            <a:off x="5367528" y="2706624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Falta granel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Pedidos al Laboratorio → nueva orden</a:t>
            </a:r>
            <a:endParaRPr lang="en-US" sz="1400" dirty="0"/>
          </a:p>
        </p:txBody>
      </p:sp>
      <p:sp>
        <p:nvSpPr>
          <p:cNvPr id="17" name="Paso 4"/>
          <p:cNvSpPr/>
          <p:nvPr/>
        </p:nvSpPr>
        <p:spPr>
          <a:xfrm>
            <a:off x="4846320" y="36118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Número 4"/>
          <p:cNvSpPr txBox="1"/>
          <p:nvPr/>
        </p:nvSpPr>
        <p:spPr>
          <a:xfrm>
            <a:off x="48463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o paso 4"/>
          <p:cNvSpPr txBox="1"/>
          <p:nvPr/>
        </p:nvSpPr>
        <p:spPr>
          <a:xfrm>
            <a:off x="5367528" y="3575304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Bolsas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12 frascos hasta 120 ml; 6 en 250 ml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Arma, despacha y entrega</a:t>
            </a:r>
            <a:endParaRPr lang="en-US" sz="2800" dirty="0"/>
          </a:p>
        </p:txBody>
      </p:sp>
      <p:sp>
        <p:nvSpPr>
          <p:cNvPr id="4" name="Marco taller-pedido"/>
          <p:cNvSpPr/>
          <p:nvPr/>
        </p:nvSpPr>
        <p:spPr>
          <a:xfrm>
            <a:off x="48463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5" name="Captura taller-pedido" descr="Pantalla de la aplicación: taller ped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1711250" cy="3703320"/>
          </a:xfrm>
          <a:prstGeom prst="rect">
            <a:avLst/>
          </a:prstGeom>
        </p:spPr>
      </p:pic>
      <p:sp>
        <p:nvSpPr>
          <p:cNvPr id="6" name="Marco taller-ordenes"/>
          <p:cNvSpPr/>
          <p:nvPr/>
        </p:nvSpPr>
        <p:spPr>
          <a:xfrm>
            <a:off x="249631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7" name="Captura taller-ordenes" descr="Pantalla de la aplicación: taller orde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914400"/>
            <a:ext cx="1711250" cy="3703320"/>
          </a:xfrm>
          <a:prstGeom prst="rect">
            <a:avLst/>
          </a:prstGeom>
        </p:spPr>
      </p:pic>
      <p:sp>
        <p:nvSpPr>
          <p:cNvPr id="8" name="Paso 1"/>
          <p:cNvSpPr/>
          <p:nvPr/>
        </p:nvSpPr>
        <p:spPr>
          <a:xfrm>
            <a:off x="4846320" y="1005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úmero 1"/>
          <p:cNvSpPr txBox="1"/>
          <p:nvPr/>
        </p:nvSpPr>
        <p:spPr>
          <a:xfrm>
            <a:off x="484632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o paso 1"/>
          <p:cNvSpPr txBox="1"/>
          <p:nvPr/>
        </p:nvSpPr>
        <p:spPr>
          <a:xfrm>
            <a:off x="5367528" y="969264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Marcar listo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Cuando el pedido está armado</a:t>
            </a:r>
            <a:endParaRPr lang="en-US" sz="1400" dirty="0"/>
          </a:p>
        </p:txBody>
      </p:sp>
      <p:sp>
        <p:nvSpPr>
          <p:cNvPr id="11" name="Paso 2"/>
          <p:cNvSpPr/>
          <p:nvPr/>
        </p:nvSpPr>
        <p:spPr>
          <a:xfrm>
            <a:off x="4846320" y="187452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Número 2"/>
          <p:cNvSpPr txBox="1"/>
          <p:nvPr/>
        </p:nvSpPr>
        <p:spPr>
          <a:xfrm>
            <a:off x="484632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o paso 2"/>
          <p:cNvSpPr txBox="1"/>
          <p:nvPr/>
        </p:nvSpPr>
        <p:spPr>
          <a:xfrm>
            <a:off x="5367528" y="1837944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Despachar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Cuando sale al cliente o a la agencia</a:t>
            </a:r>
            <a:endParaRPr lang="en-US" sz="1400" dirty="0"/>
          </a:p>
        </p:txBody>
      </p:sp>
      <p:sp>
        <p:nvSpPr>
          <p:cNvPr id="14" name="Paso 3"/>
          <p:cNvSpPr/>
          <p:nvPr/>
        </p:nvSpPr>
        <p:spPr>
          <a:xfrm>
            <a:off x="4846320" y="27432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Número 3"/>
          <p:cNvSpPr txBox="1"/>
          <p:nvPr/>
        </p:nvSpPr>
        <p:spPr>
          <a:xfrm>
            <a:off x="484632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o paso 3"/>
          <p:cNvSpPr txBox="1"/>
          <p:nvPr/>
        </p:nvSpPr>
        <p:spPr>
          <a:xfrm>
            <a:off x="5367528" y="2706624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Marcar entregado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Al entregarlo</a:t>
            </a:r>
            <a:endParaRPr lang="en-US" sz="1400" dirty="0"/>
          </a:p>
        </p:txBody>
      </p:sp>
      <p:sp>
        <p:nvSpPr>
          <p:cNvPr id="17" name="Paso 4"/>
          <p:cNvSpPr/>
          <p:nvPr/>
        </p:nvSpPr>
        <p:spPr>
          <a:xfrm>
            <a:off x="4846320" y="36118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Número 4"/>
          <p:cNvSpPr txBox="1"/>
          <p:nvPr/>
        </p:nvSpPr>
        <p:spPr>
          <a:xfrm>
            <a:off x="48463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o paso 4"/>
          <p:cNvSpPr txBox="1"/>
          <p:nvPr/>
        </p:nvSpPr>
        <p:spPr>
          <a:xfrm>
            <a:off x="5367528" y="3575304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Enviar a revisión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Si falta algo; va a Administración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Despacho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231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Despachas los pedidos listos y marcas cuando se entregan.</a:t>
            </a:r>
            <a:endParaRPr lang="en-US" sz="1800" dirty="0"/>
          </a:p>
        </p:txBody>
      </p:sp>
      <p:sp>
        <p:nvSpPr>
          <p:cNvPr id="4" name="Tarjeta perfil"/>
          <p:cNvSpPr/>
          <p:nvPr/>
        </p:nvSpPr>
        <p:spPr>
          <a:xfrm>
            <a:off x="6583680" y="1417320"/>
            <a:ext cx="2011680" cy="237744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Logo" descr="/home/claude/pinturas-liz-app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600200"/>
            <a:ext cx="1554480" cy="1161288"/>
          </a:xfrm>
          <a:prstGeom prst="rect">
            <a:avLst/>
          </a:prstGeom>
        </p:spPr>
      </p:pic>
      <p:sp>
        <p:nvSpPr>
          <p:cNvPr id="6" name="Quién"/>
          <p:cNvSpPr txBox="1"/>
          <p:nvPr/>
        </p:nvSpPr>
        <p:spPr>
          <a:xfrm>
            <a:off x="6675120" y="2880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Encargado Despacho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Despachar y entregar</a:t>
            </a:r>
            <a:endParaRPr lang="en-US" sz="2800" dirty="0"/>
          </a:p>
        </p:txBody>
      </p:sp>
      <p:sp>
        <p:nvSpPr>
          <p:cNvPr id="4" name="Marco despacho-pedidos"/>
          <p:cNvSpPr/>
          <p:nvPr/>
        </p:nvSpPr>
        <p:spPr>
          <a:xfrm>
            <a:off x="48463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5" name="Captura despacho-pedidos" descr="Pantalla de la aplicación: despacho pedi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1711250" cy="3703320"/>
          </a:xfrm>
          <a:prstGeom prst="rect">
            <a:avLst/>
          </a:prstGeom>
        </p:spPr>
      </p:pic>
      <p:sp>
        <p:nvSpPr>
          <p:cNvPr id="6" name="Marco despacho-pedido"/>
          <p:cNvSpPr/>
          <p:nvPr/>
        </p:nvSpPr>
        <p:spPr>
          <a:xfrm>
            <a:off x="249631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7" name="Captura despacho-pedido" descr="Pantalla de la aplicación: despacho pedi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914400"/>
            <a:ext cx="1711250" cy="3703320"/>
          </a:xfrm>
          <a:prstGeom prst="rect">
            <a:avLst/>
          </a:prstGeom>
        </p:spPr>
      </p:pic>
      <p:sp>
        <p:nvSpPr>
          <p:cNvPr id="8" name="Paso 1"/>
          <p:cNvSpPr/>
          <p:nvPr/>
        </p:nvSpPr>
        <p:spPr>
          <a:xfrm>
            <a:off x="4846320" y="1005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úmero 1"/>
          <p:cNvSpPr txBox="1"/>
          <p:nvPr/>
        </p:nvSpPr>
        <p:spPr>
          <a:xfrm>
            <a:off x="484632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o paso 1"/>
          <p:cNvSpPr txBox="1"/>
          <p:nvPr/>
        </p:nvSpPr>
        <p:spPr>
          <a:xfrm>
            <a:off x="5367528" y="969264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Pedidos Listos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 lista se abre en ellos</a:t>
            </a:r>
            <a:endParaRPr lang="en-US" sz="1400" dirty="0"/>
          </a:p>
        </p:txBody>
      </p:sp>
      <p:sp>
        <p:nvSpPr>
          <p:cNvPr id="11" name="Paso 2"/>
          <p:cNvSpPr/>
          <p:nvPr/>
        </p:nvSpPr>
        <p:spPr>
          <a:xfrm>
            <a:off x="4846320" y="187452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Número 2"/>
          <p:cNvSpPr txBox="1"/>
          <p:nvPr/>
        </p:nvSpPr>
        <p:spPr>
          <a:xfrm>
            <a:off x="484632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o paso 2"/>
          <p:cNvSpPr txBox="1"/>
          <p:nvPr/>
        </p:nvSpPr>
        <p:spPr>
          <a:xfrm>
            <a:off x="5367528" y="1837944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Revisa el pedido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Cliente, entrega o agencia y empaque</a:t>
            </a:r>
            <a:endParaRPr lang="en-US" sz="1400" dirty="0"/>
          </a:p>
        </p:txBody>
      </p:sp>
      <p:sp>
        <p:nvSpPr>
          <p:cNvPr id="14" name="Paso 3"/>
          <p:cNvSpPr/>
          <p:nvPr/>
        </p:nvSpPr>
        <p:spPr>
          <a:xfrm>
            <a:off x="4846320" y="27432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Número 3"/>
          <p:cNvSpPr txBox="1"/>
          <p:nvPr/>
        </p:nvSpPr>
        <p:spPr>
          <a:xfrm>
            <a:off x="484632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o paso 3"/>
          <p:cNvSpPr txBox="1"/>
          <p:nvPr/>
        </p:nvSpPr>
        <p:spPr>
          <a:xfrm>
            <a:off x="5367528" y="2706624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Despachar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Cuando sale</a:t>
            </a:r>
            <a:endParaRPr lang="en-US" sz="1400" dirty="0"/>
          </a:p>
        </p:txBody>
      </p:sp>
      <p:sp>
        <p:nvSpPr>
          <p:cNvPr id="17" name="Paso 4"/>
          <p:cNvSpPr/>
          <p:nvPr/>
        </p:nvSpPr>
        <p:spPr>
          <a:xfrm>
            <a:off x="4846320" y="36118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Número 4"/>
          <p:cNvSpPr txBox="1"/>
          <p:nvPr/>
        </p:nvSpPr>
        <p:spPr>
          <a:xfrm>
            <a:off x="48463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o paso 4"/>
          <p:cNvSpPr txBox="1"/>
          <p:nvPr/>
        </p:nvSpPr>
        <p:spPr>
          <a:xfrm>
            <a:off x="5367528" y="3575304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Marcar entregado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Cuando el cliente lo recibe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Laboratorio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231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Fabricas los lotes que pide el Taller, los validas y los entregas.</a:t>
            </a:r>
            <a:endParaRPr lang="en-US" sz="1800" dirty="0"/>
          </a:p>
        </p:txBody>
      </p:sp>
      <p:sp>
        <p:nvSpPr>
          <p:cNvPr id="4" name="Tarjeta perfil"/>
          <p:cNvSpPr/>
          <p:nvPr/>
        </p:nvSpPr>
        <p:spPr>
          <a:xfrm>
            <a:off x="6583680" y="1417320"/>
            <a:ext cx="2011680" cy="237744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Logo" descr="/home/claude/pinturas-liz-app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600200"/>
            <a:ext cx="1554480" cy="1161288"/>
          </a:xfrm>
          <a:prstGeom prst="rect">
            <a:avLst/>
          </a:prstGeom>
        </p:spPr>
      </p:pic>
      <p:sp>
        <p:nvSpPr>
          <p:cNvPr id="6" name="Quién"/>
          <p:cNvSpPr txBox="1"/>
          <p:nvPr/>
        </p:nvSpPr>
        <p:spPr>
          <a:xfrm>
            <a:off x="6675120" y="2880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Bryan Roldan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(Laboratorio)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Órdenes, lotes y entrega</a:t>
            </a:r>
            <a:endParaRPr lang="en-US" sz="2800" dirty="0"/>
          </a:p>
        </p:txBody>
      </p:sp>
      <p:sp>
        <p:nvSpPr>
          <p:cNvPr id="4" name="Marco lab-ordenes"/>
          <p:cNvSpPr/>
          <p:nvPr/>
        </p:nvSpPr>
        <p:spPr>
          <a:xfrm>
            <a:off x="420624" y="923544"/>
            <a:ext cx="2852928" cy="1810512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5" name="Captura lab-ordenes" descr="Pantalla de la aplicación: lab orde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2779776" cy="1737360"/>
          </a:xfrm>
          <a:prstGeom prst="rect">
            <a:avLst/>
          </a:prstGeom>
        </p:spPr>
      </p:pic>
      <p:sp>
        <p:nvSpPr>
          <p:cNvPr id="6" name="Marco lab-lotes"/>
          <p:cNvSpPr/>
          <p:nvPr/>
        </p:nvSpPr>
        <p:spPr>
          <a:xfrm>
            <a:off x="420624" y="2843784"/>
            <a:ext cx="2852928" cy="1810512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7" name="Captura lab-lotes" descr="Pantalla de la aplicación: lab lo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80360"/>
            <a:ext cx="2779776" cy="1737360"/>
          </a:xfrm>
          <a:prstGeom prst="rect">
            <a:avLst/>
          </a:prstGeom>
        </p:spPr>
      </p:pic>
      <p:sp>
        <p:nvSpPr>
          <p:cNvPr id="8" name="Paso 1"/>
          <p:cNvSpPr/>
          <p:nvPr/>
        </p:nvSpPr>
        <p:spPr>
          <a:xfrm>
            <a:off x="3657600" y="1005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úmero 1"/>
          <p:cNvSpPr txBox="1"/>
          <p:nvPr/>
        </p:nvSpPr>
        <p:spPr>
          <a:xfrm>
            <a:off x="365760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o paso 1"/>
          <p:cNvSpPr txBox="1"/>
          <p:nvPr/>
        </p:nvSpPr>
        <p:spPr>
          <a:xfrm>
            <a:off x="4178808" y="969264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Órdenes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Lo que pide el Taller: color, litros y fecha</a:t>
            </a:r>
            <a:endParaRPr lang="en-US" sz="1400" dirty="0"/>
          </a:p>
        </p:txBody>
      </p:sp>
      <p:sp>
        <p:nvSpPr>
          <p:cNvPr id="11" name="Paso 2"/>
          <p:cNvSpPr/>
          <p:nvPr/>
        </p:nvSpPr>
        <p:spPr>
          <a:xfrm>
            <a:off x="3657600" y="173736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Número 2"/>
          <p:cNvSpPr txBox="1"/>
          <p:nvPr/>
        </p:nvSpPr>
        <p:spPr>
          <a:xfrm>
            <a:off x="36576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o paso 2"/>
          <p:cNvSpPr txBox="1"/>
          <p:nvPr/>
        </p:nvSpPr>
        <p:spPr>
          <a:xfrm>
            <a:off x="4178808" y="1700784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Registrar lote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Litros e insumos usados</a:t>
            </a:r>
            <a:endParaRPr lang="en-US" sz="1400" dirty="0"/>
          </a:p>
        </p:txBody>
      </p:sp>
      <p:sp>
        <p:nvSpPr>
          <p:cNvPr id="14" name="Paso 3"/>
          <p:cNvSpPr/>
          <p:nvPr/>
        </p:nvSpPr>
        <p:spPr>
          <a:xfrm>
            <a:off x="3657600" y="2468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Número 3"/>
          <p:cNvSpPr txBox="1"/>
          <p:nvPr/>
        </p:nvSpPr>
        <p:spPr>
          <a:xfrm>
            <a:off x="36576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o paso 3"/>
          <p:cNvSpPr txBox="1"/>
          <p:nvPr/>
        </p:nvSpPr>
        <p:spPr>
          <a:xfrm>
            <a:off x="4178808" y="2432304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Viscosidad, transparencia y color</a:t>
            </a:r>
            <a:endParaRPr lang="en-US" sz="1400" dirty="0"/>
          </a:p>
        </p:txBody>
      </p:sp>
      <p:sp>
        <p:nvSpPr>
          <p:cNvPr id="17" name="Paso 4"/>
          <p:cNvSpPr/>
          <p:nvPr/>
        </p:nvSpPr>
        <p:spPr>
          <a:xfrm>
            <a:off x="3657600" y="320040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Número 4"/>
          <p:cNvSpPr txBox="1"/>
          <p:nvPr/>
        </p:nvSpPr>
        <p:spPr>
          <a:xfrm>
            <a:off x="36576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o paso 4"/>
          <p:cNvSpPr txBox="1"/>
          <p:nvPr/>
        </p:nvSpPr>
        <p:spPr>
          <a:xfrm>
            <a:off x="4178808" y="3163824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Entregar al Taller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 orden queda atendida</a:t>
            </a:r>
            <a:endParaRPr lang="en-US" sz="1400" dirty="0"/>
          </a:p>
        </p:txBody>
      </p:sp>
      <p:sp>
        <p:nvSpPr>
          <p:cNvPr id="20" name="Paso 5"/>
          <p:cNvSpPr/>
          <p:nvPr/>
        </p:nvSpPr>
        <p:spPr>
          <a:xfrm>
            <a:off x="3657600" y="393192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Número 5"/>
          <p:cNvSpPr txBox="1"/>
          <p:nvPr/>
        </p:nvSpPr>
        <p:spPr>
          <a:xfrm>
            <a:off x="365760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o paso 5"/>
          <p:cNvSpPr txBox="1"/>
          <p:nvPr/>
        </p:nvSpPr>
        <p:spPr>
          <a:xfrm>
            <a:off x="4178808" y="3895344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Insumos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Compras y ajustes en Almacén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Reglas de oro</a:t>
            </a:r>
            <a:endParaRPr lang="en-US" sz="2800" dirty="0"/>
          </a:p>
        </p:txBody>
      </p:sp>
      <p:sp>
        <p:nvSpPr>
          <p:cNvPr id="4" name="Paso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úmero 1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o paso 1"/>
          <p:cNvSpPr txBox="1"/>
          <p:nvPr/>
        </p:nvSpPr>
        <p:spPr>
          <a:xfrm>
            <a:off x="978408" y="1014984"/>
            <a:ext cx="7708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Siempre primero el cliente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Los precios son de cada cliente</a:t>
            </a:r>
            <a:endParaRPr lang="en-US" sz="1500" dirty="0"/>
          </a:p>
        </p:txBody>
      </p:sp>
      <p:sp>
        <p:nvSpPr>
          <p:cNvPr id="7" name="Paso 2"/>
          <p:cNvSpPr/>
          <p:nvPr/>
        </p:nvSpPr>
        <p:spPr>
          <a:xfrm>
            <a:off x="457200" y="178308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Número 2"/>
          <p:cNvSpPr txBox="1"/>
          <p:nvPr/>
        </p:nvSpPr>
        <p:spPr>
          <a:xfrm>
            <a:off x="4572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o paso 2"/>
          <p:cNvSpPr txBox="1"/>
          <p:nvPr/>
        </p:nvSpPr>
        <p:spPr>
          <a:xfrm>
            <a:off x="978408" y="1746504"/>
            <a:ext cx="7708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Lo que no está en la app, no pasó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Registra cada paso: listo, despacho, entrega, cobro</a:t>
            </a:r>
            <a:endParaRPr lang="en-US" sz="1500" dirty="0"/>
          </a:p>
        </p:txBody>
      </p:sp>
      <p:sp>
        <p:nvSpPr>
          <p:cNvPr id="10" name="Paso 3"/>
          <p:cNvSpPr/>
          <p:nvPr/>
        </p:nvSpPr>
        <p:spPr>
          <a:xfrm>
            <a:off x="457200" y="25146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Número 3"/>
          <p:cNvSpPr txBox="1"/>
          <p:nvPr/>
        </p:nvSpPr>
        <p:spPr>
          <a:xfrm>
            <a:off x="45720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o paso 3"/>
          <p:cNvSpPr txBox="1"/>
          <p:nvPr/>
        </p:nvSpPr>
        <p:spPr>
          <a:xfrm>
            <a:off x="978408" y="2478024"/>
            <a:ext cx="7708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Atiende la franja roja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Un pedido en revisión espera por ti</a:t>
            </a:r>
            <a:endParaRPr lang="en-US" sz="1500" dirty="0"/>
          </a:p>
        </p:txBody>
      </p:sp>
      <p:sp>
        <p:nvSpPr>
          <p:cNvPr id="13" name="Paso 4"/>
          <p:cNvSpPr/>
          <p:nvPr/>
        </p:nvSpPr>
        <p:spPr>
          <a:xfrm>
            <a:off x="457200" y="324612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úmero 4"/>
          <p:cNvSpPr txBox="1"/>
          <p:nvPr/>
        </p:nvSpPr>
        <p:spPr>
          <a:xfrm>
            <a:off x="4572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o paso 4"/>
          <p:cNvSpPr txBox="1"/>
          <p:nvPr/>
        </p:nvSpPr>
        <p:spPr>
          <a:xfrm>
            <a:off x="978408" y="3209544"/>
            <a:ext cx="7708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Avisa los errores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Con «Avisar un error», no por mensajes sueltos</a:t>
            </a:r>
            <a:endParaRPr lang="en-US" sz="1500" dirty="0"/>
          </a:p>
        </p:txBody>
      </p:sp>
      <p:sp>
        <p:nvSpPr>
          <p:cNvPr id="16" name="Paso 5"/>
          <p:cNvSpPr/>
          <p:nvPr/>
        </p:nvSpPr>
        <p:spPr>
          <a:xfrm>
            <a:off x="457200" y="397764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Número 5"/>
          <p:cNvSpPr txBox="1"/>
          <p:nvPr/>
        </p:nvSpPr>
        <p:spPr>
          <a:xfrm>
            <a:off x="4572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o paso 5"/>
          <p:cNvSpPr txBox="1"/>
          <p:nvPr/>
        </p:nvSpPr>
        <p:spPr>
          <a:xfrm>
            <a:off x="978408" y="3941064"/>
            <a:ext cx="7708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Cuida tu contraseña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Es personal: cada acción queda con tu nombre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¿Dudas?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Mi cuenta → Manual de usuario y Guía rápida de mi perfil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Mi cuenta → Avisar un error · Sugerir una mejora</a:t>
            </a:r>
            <a:endParaRPr lang="en-US" sz="1800" dirty="0"/>
          </a:p>
        </p:txBody>
      </p:sp>
      <p:sp>
        <p:nvSpPr>
          <p:cNvPr id="4" name="Fondo logo"/>
          <p:cNvSpPr/>
          <p:nvPr/>
        </p:nvSpPr>
        <p:spPr>
          <a:xfrm>
            <a:off x="6126480" y="1097280"/>
            <a:ext cx="2560320" cy="292608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Logo Pinturas Liz" descr="/home/claude/pinturas-liz-app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691640"/>
            <a:ext cx="2103120" cy="15727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inturas Liz">
  <a:themeElements>
    <a:clrScheme name="Pinturas Liz">
      <a:dk1>
        <a:srgbClr val="0F1E3D"/>
      </a:dk1>
      <a:lt1>
        <a:srgbClr val="FFFFFF"/>
      </a:lt1>
      <a:dk2>
        <a:srgbClr val="0E3A8C"/>
      </a:dk2>
      <a:lt2>
        <a:srgbClr val="F4F6FB"/>
      </a:lt2>
      <a:accent1>
        <a:srgbClr val="C8202A"/>
      </a:accent1>
      <a:accent2>
        <a:srgbClr val="F6C21A"/>
      </a:accent2>
      <a:accent3>
        <a:srgbClr val="1559C2"/>
      </a:accent3>
      <a:accent4>
        <a:srgbClr val="2E9D45"/>
      </a:accent4>
      <a:accent5>
        <a:srgbClr val="F07A1C"/>
      </a:accent5>
      <a:accent6>
        <a:srgbClr val="6B7891"/>
      </a:accent6>
      <a:hlink>
        <a:srgbClr val="1559C2"/>
      </a:hlink>
      <a:folHlink>
        <a:srgbClr val="0E3A8C"/>
      </a:folHlink>
    </a:clrScheme>
    <a:fontScheme name="Pinturas Liz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Capacitación · Sistema Pinturas Liz</dc:title>
  <dc:subject>PptxGenJS Presentation</dc:subject>
  <dc:creator>Pinturas Liz</dc:creator>
  <cp:lastModifiedBy>Pinturas Liz</cp:lastModifiedBy>
  <cp:revision>1</cp:revision>
  <dcterms:created xsi:type="dcterms:W3CDTF">2026-10-21T16:51:52Z</dcterms:created>
  <dcterms:modified xsi:type="dcterms:W3CDTF">2026-10-21T16:51:52Z</dcterms:modified>
</cp:coreProperties>
</file>