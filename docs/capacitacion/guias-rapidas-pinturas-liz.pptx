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ocio y Desarrollador" id="{ea7e6358-1eef-3477-c0e1-de52aee35929}">
          <p14:sldIdLst>
            <p14:sldId id="256"/>
          </p14:sldIdLst>
        </p14:section>
        <p14:section name="Administración" id="{33676a88-ed16-5390-819b-103e0448fb94}">
          <p14:sldIdLst>
            <p14:sldId id="257"/>
          </p14:sldIdLst>
        </p14:section>
        <p14:section name="Vendedor" id="{96249611-7ca7-2c48-052a-b7dbee3afc2b}">
          <p14:sldIdLst>
            <p14:sldId id="258"/>
          </p14:sldIdLst>
        </p14:section>
        <p14:section name="Taller" id="{2dfb2aa8-9aa4-0d21-196c-c85d4f6f3c95}">
          <p14:sldIdLst>
            <p14:sldId id="259"/>
          </p14:sldIdLst>
        </p14:section>
        <p14:section name="Despacho" id="{ef7baf7f-748e-6d50-585c-91c2faf56c85}">
          <p14:sldIdLst>
            <p14:sldId id="260"/>
          </p14:sldIdLst>
        </p14:section>
        <p14:section name="Laboratorio" id="{69f9734a-16fd-0f37-e87d-6a0c32ab39a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UI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09728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10351008"/>
            <a:ext cx="6647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Pinturas Liz · Guía rápida · versión 0.8.0 · Más detalle: Mi cuenta → Manual de usuario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Socio y Desarrollador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Giovanni, Liz y Bryan (socios) · Jordan (Desarrollador)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Acceso total. Decides perfiles, medidas nuevas y límites de crédito, y resuelves alertas. El Desarrollador además evalúa las mejoras.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la campana cada día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Alertas de datos, pedidos en revisión y novedades de clientes y precios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346704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310128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Resuelve alertas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Ábrela, comenta, corrige el dato y pulsa «Marcar resuelta»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3858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3822192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Administra usuarios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Mi cuenta → Administrar usuarios: perfil, «Vende como» y activar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4370832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4370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4334256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Agrega medidas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En un producto: «Agregar medida» (ml y frascos por bolsa)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4882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4882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4846320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Fija límites de crédito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Cobranzas → Clientes → límite de cada cliente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53949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5394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5358384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Mira el Análisis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Ventas, cobranzas, producción y almacén por período</a:t>
            </a:r>
            <a:endParaRPr lang="en-US" sz="1300" dirty="0"/>
          </a:p>
        </p:txBody>
      </p:sp>
      <p:sp>
        <p:nvSpPr>
          <p:cNvPr id="25" name="Paso 7"/>
          <p:cNvSpPr/>
          <p:nvPr/>
        </p:nvSpPr>
        <p:spPr>
          <a:xfrm>
            <a:off x="457200" y="5907024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Número 7"/>
          <p:cNvSpPr txBox="1"/>
          <p:nvPr/>
        </p:nvSpPr>
        <p:spPr>
          <a:xfrm>
            <a:off x="457200" y="5907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7" name="Texto paso 7"/>
          <p:cNvSpPr txBox="1"/>
          <p:nvPr/>
        </p:nvSpPr>
        <p:spPr>
          <a:xfrm>
            <a:off x="941832" y="5870448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Haz lo de Administración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Enviar al taller, revisión, precios, cobros y compras</a:t>
            </a:r>
            <a:endParaRPr lang="en-US" sz="1300" dirty="0"/>
          </a:p>
        </p:txBody>
      </p:sp>
      <p:sp>
        <p:nvSpPr>
          <p:cNvPr id="28" name="Paso 8"/>
          <p:cNvSpPr/>
          <p:nvPr/>
        </p:nvSpPr>
        <p:spPr>
          <a:xfrm>
            <a:off x="457200" y="641908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Número 8"/>
          <p:cNvSpPr txBox="1"/>
          <p:nvPr/>
        </p:nvSpPr>
        <p:spPr>
          <a:xfrm>
            <a:off x="457200" y="6419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0" name="Texto paso 8"/>
          <p:cNvSpPr txBox="1"/>
          <p:nvPr/>
        </p:nvSpPr>
        <p:spPr>
          <a:xfrm>
            <a:off x="941832" y="6382512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Desarrollador: evalúa mejoras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Campana → filtro «Sugerencia de mejora»</a:t>
            </a:r>
            <a:endParaRPr lang="en-US" sz="1300" dirty="0"/>
          </a:p>
        </p:txBody>
      </p:sp>
      <p:sp>
        <p:nvSpPr>
          <p:cNvPr id="31" name="Marco socio-alertas"/>
          <p:cNvSpPr/>
          <p:nvPr/>
        </p:nvSpPr>
        <p:spPr>
          <a:xfrm>
            <a:off x="466344" y="7031736"/>
            <a:ext cx="3273552" cy="207340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2" name="Captura socio-alertas" descr="Pantalla de la aplicación: socio al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7068312"/>
            <a:ext cx="3200400" cy="2000250"/>
          </a:xfrm>
          <a:prstGeom prst="rect">
            <a:avLst/>
          </a:prstGeom>
        </p:spPr>
      </p:pic>
      <p:sp>
        <p:nvSpPr>
          <p:cNvPr id="33" name="Marco socio-usuarios"/>
          <p:cNvSpPr/>
          <p:nvPr/>
        </p:nvSpPr>
        <p:spPr>
          <a:xfrm>
            <a:off x="3849624" y="7031736"/>
            <a:ext cx="3273552" cy="207340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4" name="Captura socio-usuarios" descr="Pantalla de la aplicación: socio usuar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7068312"/>
            <a:ext cx="3200400" cy="2000250"/>
          </a:xfrm>
          <a:prstGeom prst="rect">
            <a:avLst/>
          </a:prstGeom>
        </p:spPr>
      </p:pic>
      <p:sp>
        <p:nvSpPr>
          <p:cNvPr id="35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6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Quitarte tu propio perfil de socio o desarrollador.</a:t>
            </a:r>
            <a:endParaRPr lang="en-US" sz="1200" dirty="0"/>
          </a:p>
        </p:txBody>
      </p:sp>
      <p:sp>
        <p:nvSpPr>
          <p:cNvPr id="37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8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Administración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Angelina Rodas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Controlas los pedidos antes del Taller, los clientes y precios, el dinero que llega y las compras.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los pedidos Recibidos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Pedidos → abre el pedido: cliente, productos, precios y pago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346704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310128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Decide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«Enviar al taller», «Modificar», «Enviar a revisión» (con motivo) o «Anular»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38587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3822192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Atiende lo que pide el Taller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Franja roja: corrígelo, devuélvelo a quien lo registró o reenvíalo al Taller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4370832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4370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4334256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Marca listo o despacha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Cuando haga falta, desde el pedido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4882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4882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4846320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Confirma el dinero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Cobranzas → Cobros → «Confirmar recibido» cuando llega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53949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5394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5358384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Cambia precios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Cliente → «Cambiar»: elige desde qué fecha rige</a:t>
            </a:r>
            <a:endParaRPr lang="en-US" sz="1300" dirty="0"/>
          </a:p>
        </p:txBody>
      </p:sp>
      <p:sp>
        <p:nvSpPr>
          <p:cNvPr id="25" name="Paso 7"/>
          <p:cNvSpPr/>
          <p:nvPr/>
        </p:nvSpPr>
        <p:spPr>
          <a:xfrm>
            <a:off x="457200" y="5907024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Número 7"/>
          <p:cNvSpPr txBox="1"/>
          <p:nvPr/>
        </p:nvSpPr>
        <p:spPr>
          <a:xfrm>
            <a:off x="457200" y="5907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7" name="Texto paso 7"/>
          <p:cNvSpPr txBox="1"/>
          <p:nvPr/>
        </p:nvSpPr>
        <p:spPr>
          <a:xfrm>
            <a:off x="941832" y="5870448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Registra compras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Almacén → Insumos o Materiales → «Registrar compra»</a:t>
            </a:r>
            <a:endParaRPr lang="en-US" sz="1300" dirty="0"/>
          </a:p>
        </p:txBody>
      </p:sp>
      <p:sp>
        <p:nvSpPr>
          <p:cNvPr id="28" name="Paso 8"/>
          <p:cNvSpPr/>
          <p:nvPr/>
        </p:nvSpPr>
        <p:spPr>
          <a:xfrm>
            <a:off x="457200" y="641908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Número 8"/>
          <p:cNvSpPr txBox="1"/>
          <p:nvPr/>
        </p:nvSpPr>
        <p:spPr>
          <a:xfrm>
            <a:off x="457200" y="6419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0" name="Texto paso 8"/>
          <p:cNvSpPr txBox="1"/>
          <p:nvPr/>
        </p:nvSpPr>
        <p:spPr>
          <a:xfrm>
            <a:off x="941832" y="6382512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Mira las novedades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Campana → Novedades: clientes y precios del equipo</a:t>
            </a:r>
            <a:endParaRPr lang="en-US" sz="1300" dirty="0"/>
          </a:p>
        </p:txBody>
      </p:sp>
      <p:sp>
        <p:nvSpPr>
          <p:cNvPr id="31" name="Paso 9"/>
          <p:cNvSpPr/>
          <p:nvPr/>
        </p:nvSpPr>
        <p:spPr>
          <a:xfrm>
            <a:off x="457200" y="6931152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Número 9"/>
          <p:cNvSpPr txBox="1"/>
          <p:nvPr/>
        </p:nvSpPr>
        <p:spPr>
          <a:xfrm>
            <a:off x="457200" y="6931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3" name="Texto paso 9"/>
          <p:cNvSpPr txBox="1"/>
          <p:nvPr/>
        </p:nvSpPr>
        <p:spPr>
          <a:xfrm>
            <a:off x="941832" y="6894576"/>
            <a:ext cx="6163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el Análisis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Deuda vencida por cliente y lo que hay que reponer</a:t>
            </a:r>
            <a:endParaRPr lang="en-US" sz="1300" dirty="0"/>
          </a:p>
        </p:txBody>
      </p:sp>
      <p:sp>
        <p:nvSpPr>
          <p:cNvPr id="34" name="Marco adm-pedido-recibido"/>
          <p:cNvSpPr/>
          <p:nvPr/>
        </p:nvSpPr>
        <p:spPr>
          <a:xfrm>
            <a:off x="466344" y="7543800"/>
            <a:ext cx="2940710" cy="1865376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5" name="Captura adm-pedido-recibido" descr="Pantalla de la aplicación: adm pedido recib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7580376"/>
            <a:ext cx="2867558" cy="1792224"/>
          </a:xfrm>
          <a:prstGeom prst="rect">
            <a:avLst/>
          </a:prstGeom>
        </p:spPr>
      </p:pic>
      <p:sp>
        <p:nvSpPr>
          <p:cNvPr id="36" name="Marco adm-cobros-cuadre"/>
          <p:cNvSpPr/>
          <p:nvPr/>
        </p:nvSpPr>
        <p:spPr>
          <a:xfrm>
            <a:off x="3849624" y="7543800"/>
            <a:ext cx="2940710" cy="1865376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7" name="Captura adm-cobros-cuadre" descr="Pantalla de la aplicación: adm cobros cuad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7580376"/>
            <a:ext cx="2867558" cy="1792224"/>
          </a:xfrm>
          <a:prstGeom prst="rect">
            <a:avLst/>
          </a:prstGeom>
        </p:spPr>
      </p:pic>
      <p:sp>
        <p:nvSpPr>
          <p:cNvPr id="38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9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Agregar medidas, fijar límites de crédito, resolver alertas ni asignar perfiles.</a:t>
            </a:r>
            <a:endParaRPr lang="en-US" sz="1200" dirty="0"/>
          </a:p>
        </p:txBody>
      </p:sp>
      <p:sp>
        <p:nvSpPr>
          <p:cNvPr id="40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41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Vendedor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Lily De La Cruz · Jorge Ruiz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Registras los pedidos de tus clientes, cuidas sus datos, entregas y cobras.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Elige el cliente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Pedidos → Catálogo → «Elegir cliente» («Mis clientes»)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639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602736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Medida y precio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Abre el producto. Sin precio: escríbelo o «Usar sugerido»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444398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440740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Docenas o Unidades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Suma colores con +; puedes mezclar 6 y 6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5248656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5248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521208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Carrito y pago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Contado, crédito u otra fecha, o adelanto → «Confirmar pedido»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605332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6053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6016752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Franja roja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«Ver pedido» → «Modificar» → «Corregido, reenviar»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68580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6858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682142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Entrega y cobra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«Marcar entregado» → «Registrar cobro» (sale un recibo)</a:t>
            </a:r>
            <a:endParaRPr lang="en-US" sz="1300" dirty="0"/>
          </a:p>
        </p:txBody>
      </p:sp>
      <p:sp>
        <p:nvSpPr>
          <p:cNvPr id="25" name="Paso 7"/>
          <p:cNvSpPr/>
          <p:nvPr/>
        </p:nvSpPr>
        <p:spPr>
          <a:xfrm>
            <a:off x="457200" y="7662672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Número 7"/>
          <p:cNvSpPr txBox="1"/>
          <p:nvPr/>
        </p:nvSpPr>
        <p:spPr>
          <a:xfrm>
            <a:off x="457200" y="7662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7" name="Texto paso 7"/>
          <p:cNvSpPr txBox="1"/>
          <p:nvPr/>
        </p:nvSpPr>
        <p:spPr>
          <a:xfrm>
            <a:off x="941832" y="7626096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Entrega el dinero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Administración; queda «Por entregar» hasta que lo confirma</a:t>
            </a:r>
            <a:endParaRPr lang="en-US" sz="1300" dirty="0"/>
          </a:p>
        </p:txBody>
      </p:sp>
      <p:sp>
        <p:nvSpPr>
          <p:cNvPr id="28" name="Paso 8"/>
          <p:cNvSpPr/>
          <p:nvPr/>
        </p:nvSpPr>
        <p:spPr>
          <a:xfrm>
            <a:off x="457200" y="846734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Número 8"/>
          <p:cNvSpPr txBox="1"/>
          <p:nvPr/>
        </p:nvSpPr>
        <p:spPr>
          <a:xfrm>
            <a:off x="457200" y="8467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0" name="Texto paso 8"/>
          <p:cNvSpPr txBox="1"/>
          <p:nvPr/>
        </p:nvSpPr>
        <p:spPr>
          <a:xfrm>
            <a:off x="941832" y="84307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Cuida tus clientes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Clientes → ficha: teléfono, dirección, DNI o RUC</a:t>
            </a:r>
            <a:endParaRPr lang="en-US" sz="1300" dirty="0"/>
          </a:p>
        </p:txBody>
      </p:sp>
      <p:sp>
        <p:nvSpPr>
          <p:cNvPr id="31" name="Marco vend-producto-unidades"/>
          <p:cNvSpPr/>
          <p:nvPr/>
        </p:nvSpPr>
        <p:spPr>
          <a:xfrm>
            <a:off x="5056632" y="2770632"/>
            <a:ext cx="1628000" cy="3374136"/>
          </a:xfrm>
          <a:prstGeom prst="roundRect">
            <a:avLst>
              <a:gd name="adj" fmla="val 786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2" name="Captura vend-producto-unidades" descr="Pantalla de la aplicación: vend producto un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2834640"/>
            <a:ext cx="1499984" cy="3246120"/>
          </a:xfrm>
          <a:prstGeom prst="rect">
            <a:avLst/>
          </a:prstGeom>
        </p:spPr>
      </p:pic>
      <p:sp>
        <p:nvSpPr>
          <p:cNvPr id="33" name="Marco vend-carrito"/>
          <p:cNvSpPr/>
          <p:nvPr/>
        </p:nvSpPr>
        <p:spPr>
          <a:xfrm>
            <a:off x="5056632" y="6199632"/>
            <a:ext cx="1585747" cy="3282696"/>
          </a:xfrm>
          <a:prstGeom prst="roundRect">
            <a:avLst>
              <a:gd name="adj" fmla="val 807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4" name="Captura vend-carrito" descr="Pantalla de la aplicación: vend carri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6263640"/>
            <a:ext cx="1457731" cy="3154680"/>
          </a:xfrm>
          <a:prstGeom prst="rect">
            <a:avLst/>
          </a:prstGeom>
        </p:spPr>
      </p:pic>
      <p:sp>
        <p:nvSpPr>
          <p:cNvPr id="35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6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Cambiar un precio que ya existe, el vendedor o el límite del cliente, ni anular pedidos.</a:t>
            </a:r>
            <a:endParaRPr lang="en-US" sz="1200" dirty="0"/>
          </a:p>
        </p:txBody>
      </p:sp>
      <p:sp>
        <p:nvSpPr>
          <p:cNvPr id="37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8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Taller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Encargado Taller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Envasas, armas los pedidos, pides producción al Laboratorio, despachas y entregas.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Mira qué envasar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Taller → Por envasar: frascos pendientes y bolsas a llenar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639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602736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Registra el envasado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Color, medida y bolsas llenas (12 hasta 120 ml; 6 en 250 ml)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444398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440740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Pide producción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Pedidos al Laboratorio → nueva orden (color y litros)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5248656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5248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521208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Arma el pedido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Sigue el «Empaque» del pedido → «Marcar listo»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605332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6053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6016752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Despacha y entrega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«Despachar» al salir y «Marcar entregado» al entregar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68580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6858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682142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Si falta algo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«Enviar a revisión» con el motivo: lo ve Administración</a:t>
            </a:r>
            <a:endParaRPr lang="en-US" sz="1300" dirty="0"/>
          </a:p>
        </p:txBody>
      </p:sp>
      <p:sp>
        <p:nvSpPr>
          <p:cNvPr id="25" name="Paso 7"/>
          <p:cNvSpPr/>
          <p:nvPr/>
        </p:nvSpPr>
        <p:spPr>
          <a:xfrm>
            <a:off x="457200" y="7662672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Número 7"/>
          <p:cNvSpPr txBox="1"/>
          <p:nvPr/>
        </p:nvSpPr>
        <p:spPr>
          <a:xfrm>
            <a:off x="457200" y="7662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7" name="Texto paso 7"/>
          <p:cNvSpPr txBox="1"/>
          <p:nvPr/>
        </p:nvSpPr>
        <p:spPr>
          <a:xfrm>
            <a:off x="941832" y="7626096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Materiales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Almacén → Materiales: compras y ajustes por conteo</a:t>
            </a:r>
            <a:endParaRPr lang="en-US" sz="1300" dirty="0"/>
          </a:p>
        </p:txBody>
      </p:sp>
      <p:sp>
        <p:nvSpPr>
          <p:cNvPr id="28" name="Marco taller-por-envasar"/>
          <p:cNvSpPr/>
          <p:nvPr/>
        </p:nvSpPr>
        <p:spPr>
          <a:xfrm>
            <a:off x="5056632" y="2770632"/>
            <a:ext cx="1628000" cy="3374136"/>
          </a:xfrm>
          <a:prstGeom prst="roundRect">
            <a:avLst>
              <a:gd name="adj" fmla="val 786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9" name="Captura taller-por-envasar" descr="Pantalla de la aplicación: taller por envas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2834640"/>
            <a:ext cx="1499984" cy="3246120"/>
          </a:xfrm>
          <a:prstGeom prst="rect">
            <a:avLst/>
          </a:prstGeom>
        </p:spPr>
      </p:pic>
      <p:sp>
        <p:nvSpPr>
          <p:cNvPr id="30" name="Marco taller-pedido"/>
          <p:cNvSpPr/>
          <p:nvPr/>
        </p:nvSpPr>
        <p:spPr>
          <a:xfrm>
            <a:off x="5056632" y="6199632"/>
            <a:ext cx="1585747" cy="3282696"/>
          </a:xfrm>
          <a:prstGeom prst="roundRect">
            <a:avLst>
              <a:gd name="adj" fmla="val 807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31" name="Captura taller-pedido" descr="Pantalla de la aplicación: talle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6263640"/>
            <a:ext cx="1457731" cy="3154680"/>
          </a:xfrm>
          <a:prstGeom prst="rect">
            <a:avLst/>
          </a:prstGeom>
        </p:spPr>
      </p:pic>
      <p:sp>
        <p:nvSpPr>
          <p:cNvPr id="32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3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Registrar pedidos, cambiar precios ni registrar cobros.</a:t>
            </a:r>
            <a:endParaRPr lang="en-US" sz="1200" dirty="0"/>
          </a:p>
        </p:txBody>
      </p:sp>
      <p:sp>
        <p:nvSpPr>
          <p:cNvPr id="34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5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Despacho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Encargado Despacho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Despachas los pedidos listos y marcas cuando se entregan.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Abre Pedidos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lista se abre en los pedidos «Listo»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639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602736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el pedido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Cliente, entrega o agencia, y el empaque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444398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440740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Despacha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«Despachar» cuando el pedido sale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5248656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5248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521208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Entrega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«Marcar entregado» cuando el cliente lo recibe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605332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6053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6016752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Consulta el envasado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Almacén → Producto envasado (solo consulta)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68580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6858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6821424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Si algo no cuadra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Mi cuenta → «Avisar un error de datos»</a:t>
            </a:r>
            <a:endParaRPr lang="en-US" sz="1300" dirty="0"/>
          </a:p>
        </p:txBody>
      </p:sp>
      <p:sp>
        <p:nvSpPr>
          <p:cNvPr id="25" name="Marco despacho-pedidos"/>
          <p:cNvSpPr/>
          <p:nvPr/>
        </p:nvSpPr>
        <p:spPr>
          <a:xfrm>
            <a:off x="5056632" y="2770632"/>
            <a:ext cx="1628000" cy="3374136"/>
          </a:xfrm>
          <a:prstGeom prst="roundRect">
            <a:avLst>
              <a:gd name="adj" fmla="val 786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6" name="Captura despacho-pedidos" descr="Pantalla de la aplicación: despacho pedi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2834640"/>
            <a:ext cx="1499984" cy="3246120"/>
          </a:xfrm>
          <a:prstGeom prst="rect">
            <a:avLst/>
          </a:prstGeom>
        </p:spPr>
      </p:pic>
      <p:sp>
        <p:nvSpPr>
          <p:cNvPr id="27" name="Marco despacho-pedido"/>
          <p:cNvSpPr/>
          <p:nvPr/>
        </p:nvSpPr>
        <p:spPr>
          <a:xfrm>
            <a:off x="5056632" y="6199632"/>
            <a:ext cx="1585747" cy="3282696"/>
          </a:xfrm>
          <a:prstGeom prst="roundRect">
            <a:avLst>
              <a:gd name="adj" fmla="val 8073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8" name="Captura despacho-pedido" descr="Pantalla de la aplicación: despacho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6263640"/>
            <a:ext cx="1457731" cy="3154680"/>
          </a:xfrm>
          <a:prstGeom prst="rect">
            <a:avLst/>
          </a:prstGeom>
        </p:spPr>
      </p:pic>
      <p:sp>
        <p:nvSpPr>
          <p:cNvPr id="29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0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Envasar, pedir producción, mover almacenes ni registrar cobros.</a:t>
            </a:r>
            <a:endParaRPr lang="en-US" sz="1200" dirty="0"/>
          </a:p>
        </p:txBody>
      </p:sp>
      <p:sp>
        <p:nvSpPr>
          <p:cNvPr id="31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2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737360" y="3474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Laboratorio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37360" y="8961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Guía rápida · Bryan Roldan (Laboratorio)</a:t>
            </a:r>
            <a:endParaRPr lang="en-US" sz="1400" dirty="0"/>
          </a:p>
        </p:txBody>
      </p:sp>
      <p:sp>
        <p:nvSpPr>
          <p:cNvPr id="4" name="Tu trabajo"/>
          <p:cNvSpPr/>
          <p:nvPr/>
        </p:nvSpPr>
        <p:spPr>
          <a:xfrm>
            <a:off x="457200" y="1417320"/>
            <a:ext cx="664768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5" name="Texto trabajo"/>
          <p:cNvSpPr txBox="1"/>
          <p:nvPr/>
        </p:nvSpPr>
        <p:spPr>
          <a:xfrm>
            <a:off x="594360" y="1417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Tu trabajo: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Fabricas los lotes que pide el Taller, los validas y los entregas; controlas los insumos.</a:t>
            </a:r>
            <a:endParaRPr lang="en-US" sz="1400" dirty="0"/>
          </a:p>
        </p:txBody>
      </p:sp>
      <p:sp>
        <p:nvSpPr>
          <p:cNvPr id="6" name="Subtítulo"/>
          <p:cNvSpPr txBox="1"/>
          <p:nvPr/>
        </p:nvSpPr>
        <p:spPr>
          <a:xfrm>
            <a:off x="457200" y="233172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haces en la app</a:t>
            </a:r>
            <a:endParaRPr lang="en-US" sz="1800" dirty="0"/>
          </a:p>
        </p:txBody>
      </p:sp>
      <p:sp>
        <p:nvSpPr>
          <p:cNvPr id="7" name="Paso 1"/>
          <p:cNvSpPr/>
          <p:nvPr/>
        </p:nvSpPr>
        <p:spPr>
          <a:xfrm>
            <a:off x="457200" y="28346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úmero 1"/>
          <p:cNvSpPr txBox="1"/>
          <p:nvPr/>
        </p:nvSpPr>
        <p:spPr>
          <a:xfrm>
            <a:off x="45720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o paso 1"/>
          <p:cNvSpPr txBox="1"/>
          <p:nvPr/>
        </p:nvSpPr>
        <p:spPr>
          <a:xfrm>
            <a:off x="941832" y="2798064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las órdenes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Producción → Órdenes: color, litros y fecha que pide el Taller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457200" y="3438144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úmero 2"/>
          <p:cNvSpPr txBox="1"/>
          <p:nvPr/>
        </p:nvSpPr>
        <p:spPr>
          <a:xfrm>
            <a:off x="457200" y="3438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o paso 2"/>
          <p:cNvSpPr txBox="1"/>
          <p:nvPr/>
        </p:nvSpPr>
        <p:spPr>
          <a:xfrm>
            <a:off x="941832" y="3401568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Registra el lote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Litros e insumos usados (salen del almacén de Insumos)</a:t>
            </a:r>
            <a:endParaRPr lang="en-US" sz="1300" dirty="0"/>
          </a:p>
        </p:txBody>
      </p:sp>
      <p:sp>
        <p:nvSpPr>
          <p:cNvPr id="13" name="Paso 3"/>
          <p:cNvSpPr/>
          <p:nvPr/>
        </p:nvSpPr>
        <p:spPr>
          <a:xfrm>
            <a:off x="457200" y="404164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3"/>
          <p:cNvSpPr txBox="1"/>
          <p:nvPr/>
        </p:nvSpPr>
        <p:spPr>
          <a:xfrm>
            <a:off x="457200" y="40416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o paso 3"/>
          <p:cNvSpPr txBox="1"/>
          <p:nvPr/>
        </p:nvSpPr>
        <p:spPr>
          <a:xfrm>
            <a:off x="941832" y="4005072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Valida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Viscosidad, transparencia y color; aprobado entra a Granel Laboratorio</a:t>
            </a:r>
            <a:endParaRPr lang="en-US" sz="1300" dirty="0"/>
          </a:p>
        </p:txBody>
      </p:sp>
      <p:sp>
        <p:nvSpPr>
          <p:cNvPr id="16" name="Paso 4"/>
          <p:cNvSpPr/>
          <p:nvPr/>
        </p:nvSpPr>
        <p:spPr>
          <a:xfrm>
            <a:off x="457200" y="4645152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úmero 4"/>
          <p:cNvSpPr txBox="1"/>
          <p:nvPr/>
        </p:nvSpPr>
        <p:spPr>
          <a:xfrm>
            <a:off x="457200" y="4645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o paso 4"/>
          <p:cNvSpPr txBox="1"/>
          <p:nvPr/>
        </p:nvSpPr>
        <p:spPr>
          <a:xfrm>
            <a:off x="941832" y="4608576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Entrega al Taller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Pasa a Granel Taller y la orden queda atendida</a:t>
            </a:r>
            <a:endParaRPr lang="en-US" sz="1300" dirty="0"/>
          </a:p>
        </p:txBody>
      </p:sp>
      <p:sp>
        <p:nvSpPr>
          <p:cNvPr id="19" name="Paso 5"/>
          <p:cNvSpPr/>
          <p:nvPr/>
        </p:nvSpPr>
        <p:spPr>
          <a:xfrm>
            <a:off x="457200" y="52486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Número 5"/>
          <p:cNvSpPr txBox="1"/>
          <p:nvPr/>
        </p:nvSpPr>
        <p:spPr>
          <a:xfrm>
            <a:off x="457200" y="5248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o paso 5"/>
          <p:cNvSpPr txBox="1"/>
          <p:nvPr/>
        </p:nvSpPr>
        <p:spPr>
          <a:xfrm>
            <a:off x="941832" y="5212080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Cuida los insumos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Almacén → Insumos: compras, salidas y ajustes</a:t>
            </a:r>
            <a:endParaRPr lang="en-US" sz="1300" dirty="0"/>
          </a:p>
        </p:txBody>
      </p:sp>
      <p:sp>
        <p:nvSpPr>
          <p:cNvPr id="22" name="Paso 6"/>
          <p:cNvSpPr/>
          <p:nvPr/>
        </p:nvSpPr>
        <p:spPr>
          <a:xfrm>
            <a:off x="457200" y="58521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úmero 6"/>
          <p:cNvSpPr txBox="1"/>
          <p:nvPr/>
        </p:nvSpPr>
        <p:spPr>
          <a:xfrm>
            <a:off x="457200" y="585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4" name="Texto paso 6"/>
          <p:cNvSpPr txBox="1"/>
          <p:nvPr/>
        </p:nvSpPr>
        <p:spPr>
          <a:xfrm>
            <a:off x="941832" y="5815584"/>
            <a:ext cx="6163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Fija mínimos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almacén avisa cuando un insumo baja del mínimo</a:t>
            </a:r>
            <a:endParaRPr lang="en-US" sz="1300" dirty="0"/>
          </a:p>
        </p:txBody>
      </p:sp>
      <p:sp>
        <p:nvSpPr>
          <p:cNvPr id="25" name="Marco lab-ordenes"/>
          <p:cNvSpPr/>
          <p:nvPr/>
        </p:nvSpPr>
        <p:spPr>
          <a:xfrm>
            <a:off x="466344" y="6556248"/>
            <a:ext cx="3273552" cy="207340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6" name="Captura lab-ordenes" descr="Pantalla de la aplicación: lab orde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592824"/>
            <a:ext cx="3200400" cy="2000250"/>
          </a:xfrm>
          <a:prstGeom prst="rect">
            <a:avLst/>
          </a:prstGeom>
        </p:spPr>
      </p:pic>
      <p:sp>
        <p:nvSpPr>
          <p:cNvPr id="27" name="Marco lab-lotes"/>
          <p:cNvSpPr/>
          <p:nvPr/>
        </p:nvSpPr>
        <p:spPr>
          <a:xfrm>
            <a:off x="3849624" y="6556248"/>
            <a:ext cx="3273552" cy="207340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8" name="Captura lab-lotes" descr="Pantalla de la aplicación: lab l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6592824"/>
            <a:ext cx="3200400" cy="2000250"/>
          </a:xfrm>
          <a:prstGeom prst="rect">
            <a:avLst/>
          </a:prstGeom>
        </p:spPr>
      </p:pic>
      <p:sp>
        <p:nvSpPr>
          <p:cNvPr id="29" name="Tarjeta No puedes"/>
          <p:cNvSpPr/>
          <p:nvPr/>
        </p:nvSpPr>
        <p:spPr>
          <a:xfrm>
            <a:off x="457200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0" name="Texto No puedes"/>
          <p:cNvSpPr txBox="1"/>
          <p:nvPr/>
        </p:nvSpPr>
        <p:spPr>
          <a:xfrm>
            <a:off x="594360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 puedes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Ver pedidos, clientes, precios ni cobros.</a:t>
            </a:r>
            <a:endParaRPr lang="en-US" sz="1200" dirty="0"/>
          </a:p>
        </p:txBody>
      </p:sp>
      <p:sp>
        <p:nvSpPr>
          <p:cNvPr id="31" name="Tarjeta Ayuda"/>
          <p:cNvSpPr/>
          <p:nvPr/>
        </p:nvSpPr>
        <p:spPr>
          <a:xfrm>
            <a:off x="3858768" y="9555480"/>
            <a:ext cx="324612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32" name="Texto Ayuda"/>
          <p:cNvSpPr txBox="1"/>
          <p:nvPr/>
        </p:nvSpPr>
        <p:spPr>
          <a:xfrm>
            <a:off x="3995928" y="9646920"/>
            <a:ext cx="2971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Ayuda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 cuenta → Manual (PDF) · Avisar un error · Sugerir una mejora · Cambiar contraseña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nturas Liz">
  <a:themeElements>
    <a:clrScheme name="Pinturas Liz">
      <a:dk1>
        <a:srgbClr val="0F1E3D"/>
      </a:dk1>
      <a:lt1>
        <a:srgbClr val="FFFFFF"/>
      </a:lt1>
      <a:dk2>
        <a:srgbClr val="0E3A8C"/>
      </a:dk2>
      <a:lt2>
        <a:srgbClr val="F4F6FB"/>
      </a:lt2>
      <a:accent1>
        <a:srgbClr val="C8202A"/>
      </a:accent1>
      <a:accent2>
        <a:srgbClr val="F6C21A"/>
      </a:accent2>
      <a:accent3>
        <a:srgbClr val="1559C2"/>
      </a:accent3>
      <a:accent4>
        <a:srgbClr val="2E9D45"/>
      </a:accent4>
      <a:accent5>
        <a:srgbClr val="F07A1C"/>
      </a:accent5>
      <a:accent6>
        <a:srgbClr val="6B7891"/>
      </a:accent6>
      <a:hlink>
        <a:srgbClr val="1559C2"/>
      </a:hlink>
      <a:folHlink>
        <a:srgbClr val="0E3A8C"/>
      </a:folHlink>
    </a:clrScheme>
    <a:fontScheme name="Pinturas Liz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Guías rápidas · Sistema Pinturas Liz</dc:title>
  <dc:subject>PptxGenJS Presentation</dc:subject>
  <dc:creator>Pinturas Liz</dc:creator>
  <cp:lastModifiedBy>Pinturas Liz</cp:lastModifiedBy>
  <cp:revision>1</cp:revision>
  <dcterms:created xsi:type="dcterms:W3CDTF">2026-10-21T18:23:25Z</dcterms:created>
  <dcterms:modified xsi:type="dcterms:W3CDTF">2026-10-21T18:23:25Z</dcterms:modified>
</cp:coreProperties>
</file>