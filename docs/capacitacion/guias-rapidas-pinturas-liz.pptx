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ocio y Desarrollador" id="{f4c889b7-1bdd-38a6-b71d-b8da48bb1f85}">
          <p14:sldIdLst>
            <p14:sldId id="256"/>
          </p14:sldIdLst>
        </p14:section>
        <p14:section name="Administración" id="{7696e9b8-e49f-e3ea-801b-cf1c2f65cf2c}">
          <p14:sldIdLst>
            <p14:sldId id="257"/>
          </p14:sldIdLst>
        </p14:section>
        <p14:section name="Vendedor" id="{b0341408-24e1-cf68-88d0-4ba8de581631}">
          <p14:sldIdLst>
            <p14:sldId id="258"/>
          </p14:sldIdLst>
        </p14:section>
        <p14:section name="Taller" id="{0f2b6bd3-2dad-dcfb-add2-128a3b1f8f3d}">
          <p14:sldIdLst>
            <p14:sldId id="259"/>
          </p14:sldIdLst>
        </p14:section>
        <p14:section name="Despacho" id="{7d8454d5-2fb7-1b2f-45de-ce72052b7994}">
          <p14:sldIdLst>
            <p14:sldId id="260"/>
          </p14:sldIdLst>
        </p14:section>
        <p14:section name="Laboratorio" id="{90336c3b-b3b4-dd23-ae52-96169589e878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UI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nturas-liz-app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097280" cy="8229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737360" y="347472"/>
            <a:ext cx="53949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737360" y="896112"/>
            <a:ext cx="53949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457200" y="10351008"/>
            <a:ext cx="6647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Pinturas Liz · Guía rápida · versión 0.7.0 · Más detalle: Mi cuenta → Manual de usuario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737360" y="34747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Socio y Desarrollador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737360" y="8961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Guía rápida · Giovanni, Liz y Bryan (socios) · Jordan (Desarrollador)</a:t>
            </a:r>
            <a:endParaRPr lang="en-US" sz="1400" dirty="0"/>
          </a:p>
        </p:txBody>
      </p:sp>
      <p:sp>
        <p:nvSpPr>
          <p:cNvPr id="4" name="Tu trabajo"/>
          <p:cNvSpPr/>
          <p:nvPr/>
        </p:nvSpPr>
        <p:spPr>
          <a:xfrm>
            <a:off x="457200" y="1417320"/>
            <a:ext cx="6647688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5" name="Texto trabajo"/>
          <p:cNvSpPr txBox="1"/>
          <p:nvPr/>
        </p:nvSpPr>
        <p:spPr>
          <a:xfrm>
            <a:off x="594360" y="1417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Tu trabajo: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Acceso total. Decides perfiles, medidas nuevas y límites de crédito, y resuelves alertas. El Desarrollador además evalúa las mejoras.</a:t>
            </a:r>
            <a:endParaRPr lang="en-US" sz="1400" dirty="0"/>
          </a:p>
        </p:txBody>
      </p:sp>
      <p:sp>
        <p:nvSpPr>
          <p:cNvPr id="6" name="Subtítulo"/>
          <p:cNvSpPr txBox="1"/>
          <p:nvPr/>
        </p:nvSpPr>
        <p:spPr>
          <a:xfrm>
            <a:off x="457200" y="233172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 que haces en la app</a:t>
            </a:r>
            <a:endParaRPr lang="en-US" sz="1800" dirty="0"/>
          </a:p>
        </p:txBody>
      </p:sp>
      <p:sp>
        <p:nvSpPr>
          <p:cNvPr id="7" name="Paso 1"/>
          <p:cNvSpPr/>
          <p:nvPr/>
        </p:nvSpPr>
        <p:spPr>
          <a:xfrm>
            <a:off x="457200" y="283464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úmero 1"/>
          <p:cNvSpPr txBox="1"/>
          <p:nvPr/>
        </p:nvSpPr>
        <p:spPr>
          <a:xfrm>
            <a:off x="45720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o paso 1"/>
          <p:cNvSpPr txBox="1"/>
          <p:nvPr/>
        </p:nvSpPr>
        <p:spPr>
          <a:xfrm>
            <a:off x="941832" y="2798064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Revisa la campana cada día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Alertas de datos, pedidos en revisión y novedades de clientes y precios</a:t>
            </a:r>
            <a:endParaRPr lang="en-US" sz="1300" dirty="0"/>
          </a:p>
        </p:txBody>
      </p:sp>
      <p:sp>
        <p:nvSpPr>
          <p:cNvPr id="10" name="Paso 2"/>
          <p:cNvSpPr/>
          <p:nvPr/>
        </p:nvSpPr>
        <p:spPr>
          <a:xfrm>
            <a:off x="457200" y="3438144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Número 2"/>
          <p:cNvSpPr txBox="1"/>
          <p:nvPr/>
        </p:nvSpPr>
        <p:spPr>
          <a:xfrm>
            <a:off x="45720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o paso 2"/>
          <p:cNvSpPr txBox="1"/>
          <p:nvPr/>
        </p:nvSpPr>
        <p:spPr>
          <a:xfrm>
            <a:off x="941832" y="3401568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Resuelve alertas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Ábrela, comenta, corrige el dato y pulsa «Marcar resuelta»</a:t>
            </a:r>
            <a:endParaRPr lang="en-US" sz="1300" dirty="0"/>
          </a:p>
        </p:txBody>
      </p:sp>
      <p:sp>
        <p:nvSpPr>
          <p:cNvPr id="13" name="Paso 3"/>
          <p:cNvSpPr/>
          <p:nvPr/>
        </p:nvSpPr>
        <p:spPr>
          <a:xfrm>
            <a:off x="457200" y="404164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Número 3"/>
          <p:cNvSpPr txBox="1"/>
          <p:nvPr/>
        </p:nvSpPr>
        <p:spPr>
          <a:xfrm>
            <a:off x="457200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o paso 3"/>
          <p:cNvSpPr txBox="1"/>
          <p:nvPr/>
        </p:nvSpPr>
        <p:spPr>
          <a:xfrm>
            <a:off x="941832" y="4005072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Administra usuarios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Mi cuenta → Administrar usuarios: perfil, «Vende como» y activar</a:t>
            </a:r>
            <a:endParaRPr lang="en-US" sz="1300" dirty="0"/>
          </a:p>
        </p:txBody>
      </p:sp>
      <p:sp>
        <p:nvSpPr>
          <p:cNvPr id="16" name="Paso 4"/>
          <p:cNvSpPr/>
          <p:nvPr/>
        </p:nvSpPr>
        <p:spPr>
          <a:xfrm>
            <a:off x="457200" y="4645152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Número 4"/>
          <p:cNvSpPr txBox="1"/>
          <p:nvPr/>
        </p:nvSpPr>
        <p:spPr>
          <a:xfrm>
            <a:off x="457200" y="4645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o paso 4"/>
          <p:cNvSpPr txBox="1"/>
          <p:nvPr/>
        </p:nvSpPr>
        <p:spPr>
          <a:xfrm>
            <a:off x="941832" y="4608576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Agrega medidas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En un producto: «Agregar medida» (ml y frascos por bolsa)</a:t>
            </a:r>
            <a:endParaRPr lang="en-US" sz="1300" dirty="0"/>
          </a:p>
        </p:txBody>
      </p:sp>
      <p:sp>
        <p:nvSpPr>
          <p:cNvPr id="19" name="Paso 5"/>
          <p:cNvSpPr/>
          <p:nvPr/>
        </p:nvSpPr>
        <p:spPr>
          <a:xfrm>
            <a:off x="457200" y="5248656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Número 5"/>
          <p:cNvSpPr txBox="1"/>
          <p:nvPr/>
        </p:nvSpPr>
        <p:spPr>
          <a:xfrm>
            <a:off x="457200" y="5248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o paso 5"/>
          <p:cNvSpPr txBox="1"/>
          <p:nvPr/>
        </p:nvSpPr>
        <p:spPr>
          <a:xfrm>
            <a:off x="941832" y="5212080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Fija límites de crédito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Cobranzas → Clientes → límite de cada cliente</a:t>
            </a:r>
            <a:endParaRPr lang="en-US" sz="1300" dirty="0"/>
          </a:p>
        </p:txBody>
      </p:sp>
      <p:sp>
        <p:nvSpPr>
          <p:cNvPr id="22" name="Paso 6"/>
          <p:cNvSpPr/>
          <p:nvPr/>
        </p:nvSpPr>
        <p:spPr>
          <a:xfrm>
            <a:off x="457200" y="58521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Número 6"/>
          <p:cNvSpPr txBox="1"/>
          <p:nvPr/>
        </p:nvSpPr>
        <p:spPr>
          <a:xfrm>
            <a:off x="457200" y="5852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4" name="Texto paso 6"/>
          <p:cNvSpPr txBox="1"/>
          <p:nvPr/>
        </p:nvSpPr>
        <p:spPr>
          <a:xfrm>
            <a:off x="941832" y="5815584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Haz lo de Administración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Enviar al taller, revisión, precios, cobros y compras</a:t>
            </a:r>
            <a:endParaRPr lang="en-US" sz="1300" dirty="0"/>
          </a:p>
        </p:txBody>
      </p:sp>
      <p:sp>
        <p:nvSpPr>
          <p:cNvPr id="25" name="Paso 7"/>
          <p:cNvSpPr/>
          <p:nvPr/>
        </p:nvSpPr>
        <p:spPr>
          <a:xfrm>
            <a:off x="457200" y="6455664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Número 7"/>
          <p:cNvSpPr txBox="1"/>
          <p:nvPr/>
        </p:nvSpPr>
        <p:spPr>
          <a:xfrm>
            <a:off x="457200" y="6455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7" name="Texto paso 7"/>
          <p:cNvSpPr txBox="1"/>
          <p:nvPr/>
        </p:nvSpPr>
        <p:spPr>
          <a:xfrm>
            <a:off x="941832" y="6419088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Desarrollador: evalúa mejoras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Campana → filtro «Sugerencia de mejora»</a:t>
            </a:r>
            <a:endParaRPr lang="en-US" sz="1300" dirty="0"/>
          </a:p>
        </p:txBody>
      </p:sp>
      <p:sp>
        <p:nvSpPr>
          <p:cNvPr id="28" name="Marco socio-alertas"/>
          <p:cNvSpPr/>
          <p:nvPr/>
        </p:nvSpPr>
        <p:spPr>
          <a:xfrm>
            <a:off x="466344" y="7159752"/>
            <a:ext cx="3273552" cy="2073402"/>
          </a:xfrm>
          <a:prstGeom prst="roundRect">
            <a:avLst>
              <a:gd name="adj" fmla="val 2646"/>
            </a:avLst>
          </a:prstGeom>
          <a:solidFill>
            <a:schemeClr val="bg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29" name="Captura socio-alertas" descr="Pantalla de la aplicación: socio aler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7196328"/>
            <a:ext cx="3200400" cy="2000250"/>
          </a:xfrm>
          <a:prstGeom prst="rect">
            <a:avLst/>
          </a:prstGeom>
        </p:spPr>
      </p:pic>
      <p:sp>
        <p:nvSpPr>
          <p:cNvPr id="30" name="Marco socio-usuarios"/>
          <p:cNvSpPr/>
          <p:nvPr/>
        </p:nvSpPr>
        <p:spPr>
          <a:xfrm>
            <a:off x="3849624" y="7159752"/>
            <a:ext cx="3273552" cy="2073402"/>
          </a:xfrm>
          <a:prstGeom prst="roundRect">
            <a:avLst>
              <a:gd name="adj" fmla="val 2646"/>
            </a:avLst>
          </a:prstGeom>
          <a:solidFill>
            <a:schemeClr val="bg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31" name="Captura socio-usuarios" descr="Pantalla de la aplicación: socio usuari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7196328"/>
            <a:ext cx="3200400" cy="2000250"/>
          </a:xfrm>
          <a:prstGeom prst="rect">
            <a:avLst/>
          </a:prstGeom>
        </p:spPr>
      </p:pic>
      <p:sp>
        <p:nvSpPr>
          <p:cNvPr id="32" name="Tarjeta No puedes"/>
          <p:cNvSpPr/>
          <p:nvPr/>
        </p:nvSpPr>
        <p:spPr>
          <a:xfrm>
            <a:off x="457200" y="9555480"/>
            <a:ext cx="324612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33" name="Texto No puedes"/>
          <p:cNvSpPr txBox="1"/>
          <p:nvPr/>
        </p:nvSpPr>
        <p:spPr>
          <a:xfrm>
            <a:off x="594360" y="964692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No puedes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Quitarte tu propio perfil de socio o desarrollador.</a:t>
            </a:r>
            <a:endParaRPr lang="en-US" sz="1200" dirty="0"/>
          </a:p>
        </p:txBody>
      </p:sp>
      <p:sp>
        <p:nvSpPr>
          <p:cNvPr id="34" name="Tarjeta Ayuda"/>
          <p:cNvSpPr/>
          <p:nvPr/>
        </p:nvSpPr>
        <p:spPr>
          <a:xfrm>
            <a:off x="3858768" y="9555480"/>
            <a:ext cx="324612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35" name="Texto Ayuda"/>
          <p:cNvSpPr txBox="1"/>
          <p:nvPr/>
        </p:nvSpPr>
        <p:spPr>
          <a:xfrm>
            <a:off x="3995928" y="964692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</a:rPr>
              <a:t>Ayuda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Mi cuenta → Manual · Avisar un error · Sugerir una mejora · Cambiar contraseña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737360" y="34747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Administración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737360" y="8961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Guía rápida · Angelina Rodas</a:t>
            </a:r>
            <a:endParaRPr lang="en-US" sz="1400" dirty="0"/>
          </a:p>
        </p:txBody>
      </p:sp>
      <p:sp>
        <p:nvSpPr>
          <p:cNvPr id="4" name="Tu trabajo"/>
          <p:cNvSpPr/>
          <p:nvPr/>
        </p:nvSpPr>
        <p:spPr>
          <a:xfrm>
            <a:off x="457200" y="1417320"/>
            <a:ext cx="6647688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5" name="Texto trabajo"/>
          <p:cNvSpPr txBox="1"/>
          <p:nvPr/>
        </p:nvSpPr>
        <p:spPr>
          <a:xfrm>
            <a:off x="594360" y="1417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Tu trabajo: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Controlas los pedidos antes del Taller, los clientes y precios, el dinero que llega y las compras.</a:t>
            </a:r>
            <a:endParaRPr lang="en-US" sz="1400" dirty="0"/>
          </a:p>
        </p:txBody>
      </p:sp>
      <p:sp>
        <p:nvSpPr>
          <p:cNvPr id="6" name="Subtítulo"/>
          <p:cNvSpPr txBox="1"/>
          <p:nvPr/>
        </p:nvSpPr>
        <p:spPr>
          <a:xfrm>
            <a:off x="457200" y="233172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 que haces en la app</a:t>
            </a:r>
            <a:endParaRPr lang="en-US" sz="1800" dirty="0"/>
          </a:p>
        </p:txBody>
      </p:sp>
      <p:sp>
        <p:nvSpPr>
          <p:cNvPr id="7" name="Paso 1"/>
          <p:cNvSpPr/>
          <p:nvPr/>
        </p:nvSpPr>
        <p:spPr>
          <a:xfrm>
            <a:off x="457200" y="283464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úmero 1"/>
          <p:cNvSpPr txBox="1"/>
          <p:nvPr/>
        </p:nvSpPr>
        <p:spPr>
          <a:xfrm>
            <a:off x="45720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o paso 1"/>
          <p:cNvSpPr txBox="1"/>
          <p:nvPr/>
        </p:nvSpPr>
        <p:spPr>
          <a:xfrm>
            <a:off x="941832" y="2798064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Revisa los pedidos Recibidos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Pedidos → abre el pedido: cliente, productos, precios y pago</a:t>
            </a:r>
            <a:endParaRPr lang="en-US" sz="1300" dirty="0"/>
          </a:p>
        </p:txBody>
      </p:sp>
      <p:sp>
        <p:nvSpPr>
          <p:cNvPr id="10" name="Paso 2"/>
          <p:cNvSpPr/>
          <p:nvPr/>
        </p:nvSpPr>
        <p:spPr>
          <a:xfrm>
            <a:off x="457200" y="3438144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Número 2"/>
          <p:cNvSpPr txBox="1"/>
          <p:nvPr/>
        </p:nvSpPr>
        <p:spPr>
          <a:xfrm>
            <a:off x="45720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o paso 2"/>
          <p:cNvSpPr txBox="1"/>
          <p:nvPr/>
        </p:nvSpPr>
        <p:spPr>
          <a:xfrm>
            <a:off x="941832" y="3401568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Decide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«Enviar al taller», «Modificar», «Enviar a revisión» (con motivo) o «Anular»</a:t>
            </a:r>
            <a:endParaRPr lang="en-US" sz="1300" dirty="0"/>
          </a:p>
        </p:txBody>
      </p:sp>
      <p:sp>
        <p:nvSpPr>
          <p:cNvPr id="13" name="Paso 3"/>
          <p:cNvSpPr/>
          <p:nvPr/>
        </p:nvSpPr>
        <p:spPr>
          <a:xfrm>
            <a:off x="457200" y="404164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Número 3"/>
          <p:cNvSpPr txBox="1"/>
          <p:nvPr/>
        </p:nvSpPr>
        <p:spPr>
          <a:xfrm>
            <a:off x="457200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o paso 3"/>
          <p:cNvSpPr txBox="1"/>
          <p:nvPr/>
        </p:nvSpPr>
        <p:spPr>
          <a:xfrm>
            <a:off x="941832" y="4005072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Atiende lo que pide el Taller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Franja roja: corrígelo, devuélvelo a quien lo registró o reenvíalo al Taller</a:t>
            </a:r>
            <a:endParaRPr lang="en-US" sz="1300" dirty="0"/>
          </a:p>
        </p:txBody>
      </p:sp>
      <p:sp>
        <p:nvSpPr>
          <p:cNvPr id="16" name="Paso 4"/>
          <p:cNvSpPr/>
          <p:nvPr/>
        </p:nvSpPr>
        <p:spPr>
          <a:xfrm>
            <a:off x="457200" y="4645152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Número 4"/>
          <p:cNvSpPr txBox="1"/>
          <p:nvPr/>
        </p:nvSpPr>
        <p:spPr>
          <a:xfrm>
            <a:off x="457200" y="4645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o paso 4"/>
          <p:cNvSpPr txBox="1"/>
          <p:nvPr/>
        </p:nvSpPr>
        <p:spPr>
          <a:xfrm>
            <a:off x="941832" y="4608576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Marca listo o despacha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Cuando haga falta, desde el pedido</a:t>
            </a:r>
            <a:endParaRPr lang="en-US" sz="1300" dirty="0"/>
          </a:p>
        </p:txBody>
      </p:sp>
      <p:sp>
        <p:nvSpPr>
          <p:cNvPr id="19" name="Paso 5"/>
          <p:cNvSpPr/>
          <p:nvPr/>
        </p:nvSpPr>
        <p:spPr>
          <a:xfrm>
            <a:off x="457200" y="5248656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Número 5"/>
          <p:cNvSpPr txBox="1"/>
          <p:nvPr/>
        </p:nvSpPr>
        <p:spPr>
          <a:xfrm>
            <a:off x="457200" y="5248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o paso 5"/>
          <p:cNvSpPr txBox="1"/>
          <p:nvPr/>
        </p:nvSpPr>
        <p:spPr>
          <a:xfrm>
            <a:off x="941832" y="5212080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Confirma el dinero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Cobranzas → Cobros → «Confirmar recibido» cuando llega</a:t>
            </a:r>
            <a:endParaRPr lang="en-US" sz="1300" dirty="0"/>
          </a:p>
        </p:txBody>
      </p:sp>
      <p:sp>
        <p:nvSpPr>
          <p:cNvPr id="22" name="Paso 6"/>
          <p:cNvSpPr/>
          <p:nvPr/>
        </p:nvSpPr>
        <p:spPr>
          <a:xfrm>
            <a:off x="457200" y="58521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Número 6"/>
          <p:cNvSpPr txBox="1"/>
          <p:nvPr/>
        </p:nvSpPr>
        <p:spPr>
          <a:xfrm>
            <a:off x="457200" y="5852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4" name="Texto paso 6"/>
          <p:cNvSpPr txBox="1"/>
          <p:nvPr/>
        </p:nvSpPr>
        <p:spPr>
          <a:xfrm>
            <a:off x="941832" y="5815584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Cambia precios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Cliente → «Cambiar»: elige desde qué fecha rige</a:t>
            </a:r>
            <a:endParaRPr lang="en-US" sz="1300" dirty="0"/>
          </a:p>
        </p:txBody>
      </p:sp>
      <p:sp>
        <p:nvSpPr>
          <p:cNvPr id="25" name="Paso 7"/>
          <p:cNvSpPr/>
          <p:nvPr/>
        </p:nvSpPr>
        <p:spPr>
          <a:xfrm>
            <a:off x="457200" y="6455664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Número 7"/>
          <p:cNvSpPr txBox="1"/>
          <p:nvPr/>
        </p:nvSpPr>
        <p:spPr>
          <a:xfrm>
            <a:off x="457200" y="6455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7" name="Texto paso 7"/>
          <p:cNvSpPr txBox="1"/>
          <p:nvPr/>
        </p:nvSpPr>
        <p:spPr>
          <a:xfrm>
            <a:off x="941832" y="6419088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Registra compras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Almacén → Insumos o Materiales → «Registrar compra»</a:t>
            </a:r>
            <a:endParaRPr lang="en-US" sz="1300" dirty="0"/>
          </a:p>
        </p:txBody>
      </p:sp>
      <p:sp>
        <p:nvSpPr>
          <p:cNvPr id="28" name="Paso 8"/>
          <p:cNvSpPr/>
          <p:nvPr/>
        </p:nvSpPr>
        <p:spPr>
          <a:xfrm>
            <a:off x="457200" y="705916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Número 8"/>
          <p:cNvSpPr txBox="1"/>
          <p:nvPr/>
        </p:nvSpPr>
        <p:spPr>
          <a:xfrm>
            <a:off x="457200" y="7059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8</a:t>
            </a:r>
            <a:endParaRPr lang="en-US" sz="1300" dirty="0"/>
          </a:p>
        </p:txBody>
      </p:sp>
      <p:sp>
        <p:nvSpPr>
          <p:cNvPr id="30" name="Texto paso 8"/>
          <p:cNvSpPr txBox="1"/>
          <p:nvPr/>
        </p:nvSpPr>
        <p:spPr>
          <a:xfrm>
            <a:off x="941832" y="7022592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Mira las novedades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Campana → Novedades: clientes y precios del equipo</a:t>
            </a:r>
            <a:endParaRPr lang="en-US" sz="1300" dirty="0"/>
          </a:p>
        </p:txBody>
      </p:sp>
      <p:sp>
        <p:nvSpPr>
          <p:cNvPr id="31" name="Marco adm-pedido-recibido"/>
          <p:cNvSpPr/>
          <p:nvPr/>
        </p:nvSpPr>
        <p:spPr>
          <a:xfrm>
            <a:off x="466344" y="7763256"/>
            <a:ext cx="3273552" cy="2073402"/>
          </a:xfrm>
          <a:prstGeom prst="roundRect">
            <a:avLst>
              <a:gd name="adj" fmla="val 2646"/>
            </a:avLst>
          </a:prstGeom>
          <a:solidFill>
            <a:schemeClr val="bg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32" name="Captura adm-pedido-recibido" descr="Pantalla de la aplicación: adm pedido recib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7799832"/>
            <a:ext cx="3200400" cy="2000250"/>
          </a:xfrm>
          <a:prstGeom prst="rect">
            <a:avLst/>
          </a:prstGeom>
        </p:spPr>
      </p:pic>
      <p:sp>
        <p:nvSpPr>
          <p:cNvPr id="33" name="Marco adm-cobros-cuadre"/>
          <p:cNvSpPr/>
          <p:nvPr/>
        </p:nvSpPr>
        <p:spPr>
          <a:xfrm>
            <a:off x="3849624" y="7763256"/>
            <a:ext cx="3273552" cy="2073402"/>
          </a:xfrm>
          <a:prstGeom prst="roundRect">
            <a:avLst>
              <a:gd name="adj" fmla="val 2646"/>
            </a:avLst>
          </a:prstGeom>
          <a:solidFill>
            <a:schemeClr val="bg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34" name="Captura adm-cobros-cuadre" descr="Pantalla de la aplicación: adm cobros cuad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7799832"/>
            <a:ext cx="3200400" cy="2000250"/>
          </a:xfrm>
          <a:prstGeom prst="rect">
            <a:avLst/>
          </a:prstGeom>
        </p:spPr>
      </p:pic>
      <p:sp>
        <p:nvSpPr>
          <p:cNvPr id="35" name="Tarjeta No puedes"/>
          <p:cNvSpPr/>
          <p:nvPr/>
        </p:nvSpPr>
        <p:spPr>
          <a:xfrm>
            <a:off x="457200" y="9555480"/>
            <a:ext cx="324612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36" name="Texto No puedes"/>
          <p:cNvSpPr txBox="1"/>
          <p:nvPr/>
        </p:nvSpPr>
        <p:spPr>
          <a:xfrm>
            <a:off x="594360" y="964692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No puedes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Agregar medidas, fijar límites de crédito, resolver alertas ni asignar perfiles.</a:t>
            </a:r>
            <a:endParaRPr lang="en-US" sz="1200" dirty="0"/>
          </a:p>
        </p:txBody>
      </p:sp>
      <p:sp>
        <p:nvSpPr>
          <p:cNvPr id="37" name="Tarjeta Ayuda"/>
          <p:cNvSpPr/>
          <p:nvPr/>
        </p:nvSpPr>
        <p:spPr>
          <a:xfrm>
            <a:off x="3858768" y="9555480"/>
            <a:ext cx="324612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38" name="Texto Ayuda"/>
          <p:cNvSpPr txBox="1"/>
          <p:nvPr/>
        </p:nvSpPr>
        <p:spPr>
          <a:xfrm>
            <a:off x="3995928" y="964692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</a:rPr>
              <a:t>Ayuda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Mi cuenta → Manual · Avisar un error · Sugerir una mejora · Cambiar contraseña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737360" y="34747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Vendedor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737360" y="8961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Guía rápida · Lily De La Cruz · Jorge Ruiz</a:t>
            </a:r>
            <a:endParaRPr lang="en-US" sz="1400" dirty="0"/>
          </a:p>
        </p:txBody>
      </p:sp>
      <p:sp>
        <p:nvSpPr>
          <p:cNvPr id="4" name="Tu trabajo"/>
          <p:cNvSpPr/>
          <p:nvPr/>
        </p:nvSpPr>
        <p:spPr>
          <a:xfrm>
            <a:off x="457200" y="1417320"/>
            <a:ext cx="6647688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5" name="Texto trabajo"/>
          <p:cNvSpPr txBox="1"/>
          <p:nvPr/>
        </p:nvSpPr>
        <p:spPr>
          <a:xfrm>
            <a:off x="594360" y="1417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Tu trabajo: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Registras los pedidos de tus clientes, cuidas sus datos, entregas y cobras.</a:t>
            </a:r>
            <a:endParaRPr lang="en-US" sz="1400" dirty="0"/>
          </a:p>
        </p:txBody>
      </p:sp>
      <p:sp>
        <p:nvSpPr>
          <p:cNvPr id="6" name="Subtítulo"/>
          <p:cNvSpPr txBox="1"/>
          <p:nvPr/>
        </p:nvSpPr>
        <p:spPr>
          <a:xfrm>
            <a:off x="457200" y="233172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 que haces en la app</a:t>
            </a:r>
            <a:endParaRPr lang="en-US" sz="1800" dirty="0"/>
          </a:p>
        </p:txBody>
      </p:sp>
      <p:sp>
        <p:nvSpPr>
          <p:cNvPr id="7" name="Paso 1"/>
          <p:cNvSpPr/>
          <p:nvPr/>
        </p:nvSpPr>
        <p:spPr>
          <a:xfrm>
            <a:off x="457200" y="283464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úmero 1"/>
          <p:cNvSpPr txBox="1"/>
          <p:nvPr/>
        </p:nvSpPr>
        <p:spPr>
          <a:xfrm>
            <a:off x="45720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o paso 1"/>
          <p:cNvSpPr txBox="1"/>
          <p:nvPr/>
        </p:nvSpPr>
        <p:spPr>
          <a:xfrm>
            <a:off x="941832" y="2798064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Elige el cliente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Pedidos → Catálogo → «Elegir cliente» («Mis clientes»)</a:t>
            </a:r>
            <a:endParaRPr lang="en-US" sz="1300" dirty="0"/>
          </a:p>
        </p:txBody>
      </p:sp>
      <p:sp>
        <p:nvSpPr>
          <p:cNvPr id="10" name="Paso 2"/>
          <p:cNvSpPr/>
          <p:nvPr/>
        </p:nvSpPr>
        <p:spPr>
          <a:xfrm>
            <a:off x="457200" y="3639312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Número 2"/>
          <p:cNvSpPr txBox="1"/>
          <p:nvPr/>
        </p:nvSpPr>
        <p:spPr>
          <a:xfrm>
            <a:off x="457200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o paso 2"/>
          <p:cNvSpPr txBox="1"/>
          <p:nvPr/>
        </p:nvSpPr>
        <p:spPr>
          <a:xfrm>
            <a:off x="941832" y="3602736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Medida y precio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Abre el producto. Sin precio: escríbelo o «Usar sugerido»</a:t>
            </a:r>
            <a:endParaRPr lang="en-US" sz="1300" dirty="0"/>
          </a:p>
        </p:txBody>
      </p:sp>
      <p:sp>
        <p:nvSpPr>
          <p:cNvPr id="13" name="Paso 3"/>
          <p:cNvSpPr/>
          <p:nvPr/>
        </p:nvSpPr>
        <p:spPr>
          <a:xfrm>
            <a:off x="457200" y="4443984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Número 3"/>
          <p:cNvSpPr txBox="1"/>
          <p:nvPr/>
        </p:nvSpPr>
        <p:spPr>
          <a:xfrm>
            <a:off x="457200" y="4443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o paso 3"/>
          <p:cNvSpPr txBox="1"/>
          <p:nvPr/>
        </p:nvSpPr>
        <p:spPr>
          <a:xfrm>
            <a:off x="941832" y="4407408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Docenas o Unidades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Suma colores con +; puedes mezclar 6 y 6</a:t>
            </a:r>
            <a:endParaRPr lang="en-US" sz="1300" dirty="0"/>
          </a:p>
        </p:txBody>
      </p:sp>
      <p:sp>
        <p:nvSpPr>
          <p:cNvPr id="16" name="Paso 4"/>
          <p:cNvSpPr/>
          <p:nvPr/>
        </p:nvSpPr>
        <p:spPr>
          <a:xfrm>
            <a:off x="457200" y="5248656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Número 4"/>
          <p:cNvSpPr txBox="1"/>
          <p:nvPr/>
        </p:nvSpPr>
        <p:spPr>
          <a:xfrm>
            <a:off x="457200" y="5248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o paso 4"/>
          <p:cNvSpPr txBox="1"/>
          <p:nvPr/>
        </p:nvSpPr>
        <p:spPr>
          <a:xfrm>
            <a:off x="941832" y="5212080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Carrito y pago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Contado, crédito u otra fecha, o adelanto → «Confirmar pedido»</a:t>
            </a:r>
            <a:endParaRPr lang="en-US" sz="1300" dirty="0"/>
          </a:p>
        </p:txBody>
      </p:sp>
      <p:sp>
        <p:nvSpPr>
          <p:cNvPr id="19" name="Paso 5"/>
          <p:cNvSpPr/>
          <p:nvPr/>
        </p:nvSpPr>
        <p:spPr>
          <a:xfrm>
            <a:off x="457200" y="6053328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Número 5"/>
          <p:cNvSpPr txBox="1"/>
          <p:nvPr/>
        </p:nvSpPr>
        <p:spPr>
          <a:xfrm>
            <a:off x="457200" y="6053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o paso 5"/>
          <p:cNvSpPr txBox="1"/>
          <p:nvPr/>
        </p:nvSpPr>
        <p:spPr>
          <a:xfrm>
            <a:off x="941832" y="6016752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Franja roja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«Ver pedido» → «Modificar» → «Corregido, reenviar»</a:t>
            </a:r>
            <a:endParaRPr lang="en-US" sz="1300" dirty="0"/>
          </a:p>
        </p:txBody>
      </p:sp>
      <p:sp>
        <p:nvSpPr>
          <p:cNvPr id="22" name="Paso 6"/>
          <p:cNvSpPr/>
          <p:nvPr/>
        </p:nvSpPr>
        <p:spPr>
          <a:xfrm>
            <a:off x="457200" y="685800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Número 6"/>
          <p:cNvSpPr txBox="1"/>
          <p:nvPr/>
        </p:nvSpPr>
        <p:spPr>
          <a:xfrm>
            <a:off x="457200" y="6858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4" name="Texto paso 6"/>
          <p:cNvSpPr txBox="1"/>
          <p:nvPr/>
        </p:nvSpPr>
        <p:spPr>
          <a:xfrm>
            <a:off x="941832" y="6821424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Entrega y cobra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«Marcar entregado» → «Registrar cobro» (sale un recibo)</a:t>
            </a:r>
            <a:endParaRPr lang="en-US" sz="1300" dirty="0"/>
          </a:p>
        </p:txBody>
      </p:sp>
      <p:sp>
        <p:nvSpPr>
          <p:cNvPr id="25" name="Paso 7"/>
          <p:cNvSpPr/>
          <p:nvPr/>
        </p:nvSpPr>
        <p:spPr>
          <a:xfrm>
            <a:off x="457200" y="7662672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Número 7"/>
          <p:cNvSpPr txBox="1"/>
          <p:nvPr/>
        </p:nvSpPr>
        <p:spPr>
          <a:xfrm>
            <a:off x="457200" y="7662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7" name="Texto paso 7"/>
          <p:cNvSpPr txBox="1"/>
          <p:nvPr/>
        </p:nvSpPr>
        <p:spPr>
          <a:xfrm>
            <a:off x="941832" y="7626096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Entrega el dinero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Administración; queda «Por entregar» hasta que lo confirma</a:t>
            </a:r>
            <a:endParaRPr lang="en-US" sz="1300" dirty="0"/>
          </a:p>
        </p:txBody>
      </p:sp>
      <p:sp>
        <p:nvSpPr>
          <p:cNvPr id="28" name="Paso 8"/>
          <p:cNvSpPr/>
          <p:nvPr/>
        </p:nvSpPr>
        <p:spPr>
          <a:xfrm>
            <a:off x="457200" y="8467344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Número 8"/>
          <p:cNvSpPr txBox="1"/>
          <p:nvPr/>
        </p:nvSpPr>
        <p:spPr>
          <a:xfrm>
            <a:off x="457200" y="8467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8</a:t>
            </a:r>
            <a:endParaRPr lang="en-US" sz="1300" dirty="0"/>
          </a:p>
        </p:txBody>
      </p:sp>
      <p:sp>
        <p:nvSpPr>
          <p:cNvPr id="30" name="Texto paso 8"/>
          <p:cNvSpPr txBox="1"/>
          <p:nvPr/>
        </p:nvSpPr>
        <p:spPr>
          <a:xfrm>
            <a:off x="941832" y="8430768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Cuida tus clientes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Clientes → ficha: teléfono, dirección, DNI o RUC</a:t>
            </a:r>
            <a:endParaRPr lang="en-US" sz="1300" dirty="0"/>
          </a:p>
        </p:txBody>
      </p:sp>
      <p:sp>
        <p:nvSpPr>
          <p:cNvPr id="31" name="Marco vend-producto-unidades"/>
          <p:cNvSpPr/>
          <p:nvPr/>
        </p:nvSpPr>
        <p:spPr>
          <a:xfrm>
            <a:off x="5056632" y="2770632"/>
            <a:ext cx="1628000" cy="3374136"/>
          </a:xfrm>
          <a:prstGeom prst="roundRect">
            <a:avLst>
              <a:gd name="adj" fmla="val 7863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32" name="Captura vend-producto-unidades" descr="Pantalla de la aplicación: vend producto unidad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2834640"/>
            <a:ext cx="1499984" cy="3246120"/>
          </a:xfrm>
          <a:prstGeom prst="rect">
            <a:avLst/>
          </a:prstGeom>
        </p:spPr>
      </p:pic>
      <p:sp>
        <p:nvSpPr>
          <p:cNvPr id="33" name="Marco vend-carrito"/>
          <p:cNvSpPr/>
          <p:nvPr/>
        </p:nvSpPr>
        <p:spPr>
          <a:xfrm>
            <a:off x="5056632" y="6199632"/>
            <a:ext cx="1585747" cy="3282696"/>
          </a:xfrm>
          <a:prstGeom prst="roundRect">
            <a:avLst>
              <a:gd name="adj" fmla="val 8073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34" name="Captura vend-carrito" descr="Pantalla de la aplicación: vend carri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6263640"/>
            <a:ext cx="1457731" cy="3154680"/>
          </a:xfrm>
          <a:prstGeom prst="rect">
            <a:avLst/>
          </a:prstGeom>
        </p:spPr>
      </p:pic>
      <p:sp>
        <p:nvSpPr>
          <p:cNvPr id="35" name="Tarjeta No puedes"/>
          <p:cNvSpPr/>
          <p:nvPr/>
        </p:nvSpPr>
        <p:spPr>
          <a:xfrm>
            <a:off x="457200" y="9555480"/>
            <a:ext cx="324612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36" name="Texto No puedes"/>
          <p:cNvSpPr txBox="1"/>
          <p:nvPr/>
        </p:nvSpPr>
        <p:spPr>
          <a:xfrm>
            <a:off x="594360" y="964692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No puedes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Cambiar un precio que ya existe, el vendedor o el límite del cliente, ni anular pedidos.</a:t>
            </a:r>
            <a:endParaRPr lang="en-US" sz="1200" dirty="0"/>
          </a:p>
        </p:txBody>
      </p:sp>
      <p:sp>
        <p:nvSpPr>
          <p:cNvPr id="37" name="Tarjeta Ayuda"/>
          <p:cNvSpPr/>
          <p:nvPr/>
        </p:nvSpPr>
        <p:spPr>
          <a:xfrm>
            <a:off x="3858768" y="9555480"/>
            <a:ext cx="324612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38" name="Texto Ayuda"/>
          <p:cNvSpPr txBox="1"/>
          <p:nvPr/>
        </p:nvSpPr>
        <p:spPr>
          <a:xfrm>
            <a:off x="3995928" y="964692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</a:rPr>
              <a:t>Ayuda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Mi cuenta → Manual · Avisar un error · Sugerir una mejora · Cambiar contraseña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737360" y="34747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Taller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737360" y="8961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Guía rápida · Encargado Taller</a:t>
            </a:r>
            <a:endParaRPr lang="en-US" sz="1400" dirty="0"/>
          </a:p>
        </p:txBody>
      </p:sp>
      <p:sp>
        <p:nvSpPr>
          <p:cNvPr id="4" name="Tu trabajo"/>
          <p:cNvSpPr/>
          <p:nvPr/>
        </p:nvSpPr>
        <p:spPr>
          <a:xfrm>
            <a:off x="457200" y="1417320"/>
            <a:ext cx="6647688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5" name="Texto trabajo"/>
          <p:cNvSpPr txBox="1"/>
          <p:nvPr/>
        </p:nvSpPr>
        <p:spPr>
          <a:xfrm>
            <a:off x="594360" y="1417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Tu trabajo: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Envasas, armas los pedidos, pides producción al Laboratorio, despachas y entregas.</a:t>
            </a:r>
            <a:endParaRPr lang="en-US" sz="1400" dirty="0"/>
          </a:p>
        </p:txBody>
      </p:sp>
      <p:sp>
        <p:nvSpPr>
          <p:cNvPr id="6" name="Subtítulo"/>
          <p:cNvSpPr txBox="1"/>
          <p:nvPr/>
        </p:nvSpPr>
        <p:spPr>
          <a:xfrm>
            <a:off x="457200" y="233172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 que haces en la app</a:t>
            </a:r>
            <a:endParaRPr lang="en-US" sz="1800" dirty="0"/>
          </a:p>
        </p:txBody>
      </p:sp>
      <p:sp>
        <p:nvSpPr>
          <p:cNvPr id="7" name="Paso 1"/>
          <p:cNvSpPr/>
          <p:nvPr/>
        </p:nvSpPr>
        <p:spPr>
          <a:xfrm>
            <a:off x="457200" y="283464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úmero 1"/>
          <p:cNvSpPr txBox="1"/>
          <p:nvPr/>
        </p:nvSpPr>
        <p:spPr>
          <a:xfrm>
            <a:off x="45720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o paso 1"/>
          <p:cNvSpPr txBox="1"/>
          <p:nvPr/>
        </p:nvSpPr>
        <p:spPr>
          <a:xfrm>
            <a:off x="941832" y="2798064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Mira qué envasar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Taller → Por envasar: frascos pendientes y bolsas a llenar</a:t>
            </a:r>
            <a:endParaRPr lang="en-US" sz="1300" dirty="0"/>
          </a:p>
        </p:txBody>
      </p:sp>
      <p:sp>
        <p:nvSpPr>
          <p:cNvPr id="10" name="Paso 2"/>
          <p:cNvSpPr/>
          <p:nvPr/>
        </p:nvSpPr>
        <p:spPr>
          <a:xfrm>
            <a:off x="457200" y="3639312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Número 2"/>
          <p:cNvSpPr txBox="1"/>
          <p:nvPr/>
        </p:nvSpPr>
        <p:spPr>
          <a:xfrm>
            <a:off x="457200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o paso 2"/>
          <p:cNvSpPr txBox="1"/>
          <p:nvPr/>
        </p:nvSpPr>
        <p:spPr>
          <a:xfrm>
            <a:off x="941832" y="3602736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Registra el envasado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Color, medida y bolsas llenas (12 hasta 120 ml; 6 en 250 ml)</a:t>
            </a:r>
            <a:endParaRPr lang="en-US" sz="1300" dirty="0"/>
          </a:p>
        </p:txBody>
      </p:sp>
      <p:sp>
        <p:nvSpPr>
          <p:cNvPr id="13" name="Paso 3"/>
          <p:cNvSpPr/>
          <p:nvPr/>
        </p:nvSpPr>
        <p:spPr>
          <a:xfrm>
            <a:off x="457200" y="4443984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Número 3"/>
          <p:cNvSpPr txBox="1"/>
          <p:nvPr/>
        </p:nvSpPr>
        <p:spPr>
          <a:xfrm>
            <a:off x="457200" y="4443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o paso 3"/>
          <p:cNvSpPr txBox="1"/>
          <p:nvPr/>
        </p:nvSpPr>
        <p:spPr>
          <a:xfrm>
            <a:off x="941832" y="4407408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Pide producción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Pedidos al Laboratorio → nueva orden (color y litros)</a:t>
            </a:r>
            <a:endParaRPr lang="en-US" sz="1300" dirty="0"/>
          </a:p>
        </p:txBody>
      </p:sp>
      <p:sp>
        <p:nvSpPr>
          <p:cNvPr id="16" name="Paso 4"/>
          <p:cNvSpPr/>
          <p:nvPr/>
        </p:nvSpPr>
        <p:spPr>
          <a:xfrm>
            <a:off x="457200" y="5248656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Número 4"/>
          <p:cNvSpPr txBox="1"/>
          <p:nvPr/>
        </p:nvSpPr>
        <p:spPr>
          <a:xfrm>
            <a:off x="457200" y="5248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o paso 4"/>
          <p:cNvSpPr txBox="1"/>
          <p:nvPr/>
        </p:nvSpPr>
        <p:spPr>
          <a:xfrm>
            <a:off x="941832" y="5212080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Arma el pedido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Sigue el «Empaque» del pedido → «Marcar listo»</a:t>
            </a:r>
            <a:endParaRPr lang="en-US" sz="1300" dirty="0"/>
          </a:p>
        </p:txBody>
      </p:sp>
      <p:sp>
        <p:nvSpPr>
          <p:cNvPr id="19" name="Paso 5"/>
          <p:cNvSpPr/>
          <p:nvPr/>
        </p:nvSpPr>
        <p:spPr>
          <a:xfrm>
            <a:off x="457200" y="6053328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Número 5"/>
          <p:cNvSpPr txBox="1"/>
          <p:nvPr/>
        </p:nvSpPr>
        <p:spPr>
          <a:xfrm>
            <a:off x="457200" y="6053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o paso 5"/>
          <p:cNvSpPr txBox="1"/>
          <p:nvPr/>
        </p:nvSpPr>
        <p:spPr>
          <a:xfrm>
            <a:off x="941832" y="6016752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Despacha y entrega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«Despachar» al salir y «Marcar entregado» al entregar</a:t>
            </a:r>
            <a:endParaRPr lang="en-US" sz="1300" dirty="0"/>
          </a:p>
        </p:txBody>
      </p:sp>
      <p:sp>
        <p:nvSpPr>
          <p:cNvPr id="22" name="Paso 6"/>
          <p:cNvSpPr/>
          <p:nvPr/>
        </p:nvSpPr>
        <p:spPr>
          <a:xfrm>
            <a:off x="457200" y="685800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Número 6"/>
          <p:cNvSpPr txBox="1"/>
          <p:nvPr/>
        </p:nvSpPr>
        <p:spPr>
          <a:xfrm>
            <a:off x="457200" y="6858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4" name="Texto paso 6"/>
          <p:cNvSpPr txBox="1"/>
          <p:nvPr/>
        </p:nvSpPr>
        <p:spPr>
          <a:xfrm>
            <a:off x="941832" y="6821424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Si falta algo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«Enviar a revisión» con el motivo: lo ve Administración</a:t>
            </a:r>
            <a:endParaRPr lang="en-US" sz="1300" dirty="0"/>
          </a:p>
        </p:txBody>
      </p:sp>
      <p:sp>
        <p:nvSpPr>
          <p:cNvPr id="25" name="Paso 7"/>
          <p:cNvSpPr/>
          <p:nvPr/>
        </p:nvSpPr>
        <p:spPr>
          <a:xfrm>
            <a:off x="457200" y="7662672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Número 7"/>
          <p:cNvSpPr txBox="1"/>
          <p:nvPr/>
        </p:nvSpPr>
        <p:spPr>
          <a:xfrm>
            <a:off x="457200" y="7662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7" name="Texto paso 7"/>
          <p:cNvSpPr txBox="1"/>
          <p:nvPr/>
        </p:nvSpPr>
        <p:spPr>
          <a:xfrm>
            <a:off x="941832" y="7626096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Materiales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Almacén → Materiales: compras y ajustes por conteo</a:t>
            </a:r>
            <a:endParaRPr lang="en-US" sz="1300" dirty="0"/>
          </a:p>
        </p:txBody>
      </p:sp>
      <p:sp>
        <p:nvSpPr>
          <p:cNvPr id="28" name="Marco taller-por-envasar"/>
          <p:cNvSpPr/>
          <p:nvPr/>
        </p:nvSpPr>
        <p:spPr>
          <a:xfrm>
            <a:off x="5056632" y="2770632"/>
            <a:ext cx="1628000" cy="3374136"/>
          </a:xfrm>
          <a:prstGeom prst="roundRect">
            <a:avLst>
              <a:gd name="adj" fmla="val 7863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29" name="Captura taller-por-envasar" descr="Pantalla de la aplicación: taller por envas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2834640"/>
            <a:ext cx="1499984" cy="3246120"/>
          </a:xfrm>
          <a:prstGeom prst="rect">
            <a:avLst/>
          </a:prstGeom>
        </p:spPr>
      </p:pic>
      <p:sp>
        <p:nvSpPr>
          <p:cNvPr id="30" name="Marco taller-pedido"/>
          <p:cNvSpPr/>
          <p:nvPr/>
        </p:nvSpPr>
        <p:spPr>
          <a:xfrm>
            <a:off x="5056632" y="6199632"/>
            <a:ext cx="1585747" cy="3282696"/>
          </a:xfrm>
          <a:prstGeom prst="roundRect">
            <a:avLst>
              <a:gd name="adj" fmla="val 8073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31" name="Captura taller-pedido" descr="Pantalla de la aplicación: taller pedi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6263640"/>
            <a:ext cx="1457731" cy="3154680"/>
          </a:xfrm>
          <a:prstGeom prst="rect">
            <a:avLst/>
          </a:prstGeom>
        </p:spPr>
      </p:pic>
      <p:sp>
        <p:nvSpPr>
          <p:cNvPr id="32" name="Tarjeta No puedes"/>
          <p:cNvSpPr/>
          <p:nvPr/>
        </p:nvSpPr>
        <p:spPr>
          <a:xfrm>
            <a:off x="457200" y="9555480"/>
            <a:ext cx="324612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33" name="Texto No puedes"/>
          <p:cNvSpPr txBox="1"/>
          <p:nvPr/>
        </p:nvSpPr>
        <p:spPr>
          <a:xfrm>
            <a:off x="594360" y="964692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No puedes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Registrar pedidos, cambiar precios ni registrar cobros.</a:t>
            </a:r>
            <a:endParaRPr lang="en-US" sz="1200" dirty="0"/>
          </a:p>
        </p:txBody>
      </p:sp>
      <p:sp>
        <p:nvSpPr>
          <p:cNvPr id="34" name="Tarjeta Ayuda"/>
          <p:cNvSpPr/>
          <p:nvPr/>
        </p:nvSpPr>
        <p:spPr>
          <a:xfrm>
            <a:off x="3858768" y="9555480"/>
            <a:ext cx="324612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35" name="Texto Ayuda"/>
          <p:cNvSpPr txBox="1"/>
          <p:nvPr/>
        </p:nvSpPr>
        <p:spPr>
          <a:xfrm>
            <a:off x="3995928" y="964692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</a:rPr>
              <a:t>Ayuda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Mi cuenta → Manual · Avisar un error · Sugerir una mejora · Cambiar contraseña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737360" y="34747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Despacho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737360" y="8961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Guía rápida · Encargado Despacho</a:t>
            </a:r>
            <a:endParaRPr lang="en-US" sz="1400" dirty="0"/>
          </a:p>
        </p:txBody>
      </p:sp>
      <p:sp>
        <p:nvSpPr>
          <p:cNvPr id="4" name="Tu trabajo"/>
          <p:cNvSpPr/>
          <p:nvPr/>
        </p:nvSpPr>
        <p:spPr>
          <a:xfrm>
            <a:off x="457200" y="1417320"/>
            <a:ext cx="6647688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5" name="Texto trabajo"/>
          <p:cNvSpPr txBox="1"/>
          <p:nvPr/>
        </p:nvSpPr>
        <p:spPr>
          <a:xfrm>
            <a:off x="594360" y="1417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Tu trabajo: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Despachas los pedidos listos y marcas cuando se entregan.</a:t>
            </a:r>
            <a:endParaRPr lang="en-US" sz="1400" dirty="0"/>
          </a:p>
        </p:txBody>
      </p:sp>
      <p:sp>
        <p:nvSpPr>
          <p:cNvPr id="6" name="Subtítulo"/>
          <p:cNvSpPr txBox="1"/>
          <p:nvPr/>
        </p:nvSpPr>
        <p:spPr>
          <a:xfrm>
            <a:off x="457200" y="233172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 que haces en la app</a:t>
            </a:r>
            <a:endParaRPr lang="en-US" sz="1800" dirty="0"/>
          </a:p>
        </p:txBody>
      </p:sp>
      <p:sp>
        <p:nvSpPr>
          <p:cNvPr id="7" name="Paso 1"/>
          <p:cNvSpPr/>
          <p:nvPr/>
        </p:nvSpPr>
        <p:spPr>
          <a:xfrm>
            <a:off x="457200" y="283464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úmero 1"/>
          <p:cNvSpPr txBox="1"/>
          <p:nvPr/>
        </p:nvSpPr>
        <p:spPr>
          <a:xfrm>
            <a:off x="45720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o paso 1"/>
          <p:cNvSpPr txBox="1"/>
          <p:nvPr/>
        </p:nvSpPr>
        <p:spPr>
          <a:xfrm>
            <a:off x="941832" y="2798064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Abre Pedidos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La lista se abre en los pedidos «Listo»</a:t>
            </a:r>
            <a:endParaRPr lang="en-US" sz="1300" dirty="0"/>
          </a:p>
        </p:txBody>
      </p:sp>
      <p:sp>
        <p:nvSpPr>
          <p:cNvPr id="10" name="Paso 2"/>
          <p:cNvSpPr/>
          <p:nvPr/>
        </p:nvSpPr>
        <p:spPr>
          <a:xfrm>
            <a:off x="457200" y="3639312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Número 2"/>
          <p:cNvSpPr txBox="1"/>
          <p:nvPr/>
        </p:nvSpPr>
        <p:spPr>
          <a:xfrm>
            <a:off x="457200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o paso 2"/>
          <p:cNvSpPr txBox="1"/>
          <p:nvPr/>
        </p:nvSpPr>
        <p:spPr>
          <a:xfrm>
            <a:off x="941832" y="3602736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Revisa el pedido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Cliente, entrega o agencia, y el empaque</a:t>
            </a:r>
            <a:endParaRPr lang="en-US" sz="1300" dirty="0"/>
          </a:p>
        </p:txBody>
      </p:sp>
      <p:sp>
        <p:nvSpPr>
          <p:cNvPr id="13" name="Paso 3"/>
          <p:cNvSpPr/>
          <p:nvPr/>
        </p:nvSpPr>
        <p:spPr>
          <a:xfrm>
            <a:off x="457200" y="4443984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Número 3"/>
          <p:cNvSpPr txBox="1"/>
          <p:nvPr/>
        </p:nvSpPr>
        <p:spPr>
          <a:xfrm>
            <a:off x="457200" y="4443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o paso 3"/>
          <p:cNvSpPr txBox="1"/>
          <p:nvPr/>
        </p:nvSpPr>
        <p:spPr>
          <a:xfrm>
            <a:off x="941832" y="4407408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Despacha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«Despachar» cuando el pedido sale</a:t>
            </a:r>
            <a:endParaRPr lang="en-US" sz="1300" dirty="0"/>
          </a:p>
        </p:txBody>
      </p:sp>
      <p:sp>
        <p:nvSpPr>
          <p:cNvPr id="16" name="Paso 4"/>
          <p:cNvSpPr/>
          <p:nvPr/>
        </p:nvSpPr>
        <p:spPr>
          <a:xfrm>
            <a:off x="457200" y="5248656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Número 4"/>
          <p:cNvSpPr txBox="1"/>
          <p:nvPr/>
        </p:nvSpPr>
        <p:spPr>
          <a:xfrm>
            <a:off x="457200" y="5248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o paso 4"/>
          <p:cNvSpPr txBox="1"/>
          <p:nvPr/>
        </p:nvSpPr>
        <p:spPr>
          <a:xfrm>
            <a:off x="941832" y="5212080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Entrega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«Marcar entregado» cuando el cliente lo recibe</a:t>
            </a:r>
            <a:endParaRPr lang="en-US" sz="1300" dirty="0"/>
          </a:p>
        </p:txBody>
      </p:sp>
      <p:sp>
        <p:nvSpPr>
          <p:cNvPr id="19" name="Paso 5"/>
          <p:cNvSpPr/>
          <p:nvPr/>
        </p:nvSpPr>
        <p:spPr>
          <a:xfrm>
            <a:off x="457200" y="6053328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Número 5"/>
          <p:cNvSpPr txBox="1"/>
          <p:nvPr/>
        </p:nvSpPr>
        <p:spPr>
          <a:xfrm>
            <a:off x="457200" y="6053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o paso 5"/>
          <p:cNvSpPr txBox="1"/>
          <p:nvPr/>
        </p:nvSpPr>
        <p:spPr>
          <a:xfrm>
            <a:off x="941832" y="6016752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Consulta el envasado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Almacén → Producto envasado (solo consulta)</a:t>
            </a:r>
            <a:endParaRPr lang="en-US" sz="1300" dirty="0"/>
          </a:p>
        </p:txBody>
      </p:sp>
      <p:sp>
        <p:nvSpPr>
          <p:cNvPr id="22" name="Paso 6"/>
          <p:cNvSpPr/>
          <p:nvPr/>
        </p:nvSpPr>
        <p:spPr>
          <a:xfrm>
            <a:off x="457200" y="685800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Número 6"/>
          <p:cNvSpPr txBox="1"/>
          <p:nvPr/>
        </p:nvSpPr>
        <p:spPr>
          <a:xfrm>
            <a:off x="457200" y="6858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4" name="Texto paso 6"/>
          <p:cNvSpPr txBox="1"/>
          <p:nvPr/>
        </p:nvSpPr>
        <p:spPr>
          <a:xfrm>
            <a:off x="941832" y="6821424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Si algo no cuadra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Mi cuenta → «Avisar un error de datos»</a:t>
            </a:r>
            <a:endParaRPr lang="en-US" sz="1300" dirty="0"/>
          </a:p>
        </p:txBody>
      </p:sp>
      <p:sp>
        <p:nvSpPr>
          <p:cNvPr id="25" name="Marco despacho-pedidos"/>
          <p:cNvSpPr/>
          <p:nvPr/>
        </p:nvSpPr>
        <p:spPr>
          <a:xfrm>
            <a:off x="5056632" y="2770632"/>
            <a:ext cx="1628000" cy="3374136"/>
          </a:xfrm>
          <a:prstGeom prst="roundRect">
            <a:avLst>
              <a:gd name="adj" fmla="val 7863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26" name="Captura despacho-pedidos" descr="Pantalla de la aplicación: despacho pedi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2834640"/>
            <a:ext cx="1499984" cy="3246120"/>
          </a:xfrm>
          <a:prstGeom prst="rect">
            <a:avLst/>
          </a:prstGeom>
        </p:spPr>
      </p:pic>
      <p:sp>
        <p:nvSpPr>
          <p:cNvPr id="27" name="Marco despacho-pedido"/>
          <p:cNvSpPr/>
          <p:nvPr/>
        </p:nvSpPr>
        <p:spPr>
          <a:xfrm>
            <a:off x="5056632" y="6199632"/>
            <a:ext cx="1585747" cy="3282696"/>
          </a:xfrm>
          <a:prstGeom prst="roundRect">
            <a:avLst>
              <a:gd name="adj" fmla="val 8073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28" name="Captura despacho-pedido" descr="Pantalla de la aplicación: despacho pedi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6263640"/>
            <a:ext cx="1457731" cy="3154680"/>
          </a:xfrm>
          <a:prstGeom prst="rect">
            <a:avLst/>
          </a:prstGeom>
        </p:spPr>
      </p:pic>
      <p:sp>
        <p:nvSpPr>
          <p:cNvPr id="29" name="Tarjeta No puedes"/>
          <p:cNvSpPr/>
          <p:nvPr/>
        </p:nvSpPr>
        <p:spPr>
          <a:xfrm>
            <a:off x="457200" y="9555480"/>
            <a:ext cx="324612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30" name="Texto No puedes"/>
          <p:cNvSpPr txBox="1"/>
          <p:nvPr/>
        </p:nvSpPr>
        <p:spPr>
          <a:xfrm>
            <a:off x="594360" y="964692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No puedes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Envasar, pedir producción, mover almacenes ni registrar cobros.</a:t>
            </a:r>
            <a:endParaRPr lang="en-US" sz="1200" dirty="0"/>
          </a:p>
        </p:txBody>
      </p:sp>
      <p:sp>
        <p:nvSpPr>
          <p:cNvPr id="31" name="Tarjeta Ayuda"/>
          <p:cNvSpPr/>
          <p:nvPr/>
        </p:nvSpPr>
        <p:spPr>
          <a:xfrm>
            <a:off x="3858768" y="9555480"/>
            <a:ext cx="324612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32" name="Texto Ayuda"/>
          <p:cNvSpPr txBox="1"/>
          <p:nvPr/>
        </p:nvSpPr>
        <p:spPr>
          <a:xfrm>
            <a:off x="3995928" y="964692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</a:rPr>
              <a:t>Ayuda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Mi cuenta → Manual · Avisar un error · Sugerir una mejora · Cambiar contraseña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737360" y="34747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Laboratorio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737360" y="8961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Guía rápida · Bryan Roldan (Laboratorio)</a:t>
            </a:r>
            <a:endParaRPr lang="en-US" sz="1400" dirty="0"/>
          </a:p>
        </p:txBody>
      </p:sp>
      <p:sp>
        <p:nvSpPr>
          <p:cNvPr id="4" name="Tu trabajo"/>
          <p:cNvSpPr/>
          <p:nvPr/>
        </p:nvSpPr>
        <p:spPr>
          <a:xfrm>
            <a:off x="457200" y="1417320"/>
            <a:ext cx="6647688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5" name="Texto trabajo"/>
          <p:cNvSpPr txBox="1"/>
          <p:nvPr/>
        </p:nvSpPr>
        <p:spPr>
          <a:xfrm>
            <a:off x="594360" y="1417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Tu trabajo: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Fabricas los lotes que pide el Taller, los validas y los entregas; controlas los insumos.</a:t>
            </a:r>
            <a:endParaRPr lang="en-US" sz="1400" dirty="0"/>
          </a:p>
        </p:txBody>
      </p:sp>
      <p:sp>
        <p:nvSpPr>
          <p:cNvPr id="6" name="Subtítulo"/>
          <p:cNvSpPr txBox="1"/>
          <p:nvPr/>
        </p:nvSpPr>
        <p:spPr>
          <a:xfrm>
            <a:off x="457200" y="233172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 que haces en la app</a:t>
            </a:r>
            <a:endParaRPr lang="en-US" sz="1800" dirty="0"/>
          </a:p>
        </p:txBody>
      </p:sp>
      <p:sp>
        <p:nvSpPr>
          <p:cNvPr id="7" name="Paso 1"/>
          <p:cNvSpPr/>
          <p:nvPr/>
        </p:nvSpPr>
        <p:spPr>
          <a:xfrm>
            <a:off x="457200" y="283464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úmero 1"/>
          <p:cNvSpPr txBox="1"/>
          <p:nvPr/>
        </p:nvSpPr>
        <p:spPr>
          <a:xfrm>
            <a:off x="45720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o paso 1"/>
          <p:cNvSpPr txBox="1"/>
          <p:nvPr/>
        </p:nvSpPr>
        <p:spPr>
          <a:xfrm>
            <a:off x="941832" y="2798064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Revisa las órdenes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Producción → Órdenes: color, litros y fecha que pide el Taller</a:t>
            </a:r>
            <a:endParaRPr lang="en-US" sz="1300" dirty="0"/>
          </a:p>
        </p:txBody>
      </p:sp>
      <p:sp>
        <p:nvSpPr>
          <p:cNvPr id="10" name="Paso 2"/>
          <p:cNvSpPr/>
          <p:nvPr/>
        </p:nvSpPr>
        <p:spPr>
          <a:xfrm>
            <a:off x="457200" y="3438144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Número 2"/>
          <p:cNvSpPr txBox="1"/>
          <p:nvPr/>
        </p:nvSpPr>
        <p:spPr>
          <a:xfrm>
            <a:off x="45720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o paso 2"/>
          <p:cNvSpPr txBox="1"/>
          <p:nvPr/>
        </p:nvSpPr>
        <p:spPr>
          <a:xfrm>
            <a:off x="941832" y="3401568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Registra el lote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Litros e insumos usados (salen del almacén de Insumos)</a:t>
            </a:r>
            <a:endParaRPr lang="en-US" sz="1300" dirty="0"/>
          </a:p>
        </p:txBody>
      </p:sp>
      <p:sp>
        <p:nvSpPr>
          <p:cNvPr id="13" name="Paso 3"/>
          <p:cNvSpPr/>
          <p:nvPr/>
        </p:nvSpPr>
        <p:spPr>
          <a:xfrm>
            <a:off x="457200" y="404164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Número 3"/>
          <p:cNvSpPr txBox="1"/>
          <p:nvPr/>
        </p:nvSpPr>
        <p:spPr>
          <a:xfrm>
            <a:off x="457200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o paso 3"/>
          <p:cNvSpPr txBox="1"/>
          <p:nvPr/>
        </p:nvSpPr>
        <p:spPr>
          <a:xfrm>
            <a:off x="941832" y="4005072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Valida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Viscosidad, transparencia y color; aprobado entra a Granel Laboratorio</a:t>
            </a:r>
            <a:endParaRPr lang="en-US" sz="1300" dirty="0"/>
          </a:p>
        </p:txBody>
      </p:sp>
      <p:sp>
        <p:nvSpPr>
          <p:cNvPr id="16" name="Paso 4"/>
          <p:cNvSpPr/>
          <p:nvPr/>
        </p:nvSpPr>
        <p:spPr>
          <a:xfrm>
            <a:off x="457200" y="4645152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Número 4"/>
          <p:cNvSpPr txBox="1"/>
          <p:nvPr/>
        </p:nvSpPr>
        <p:spPr>
          <a:xfrm>
            <a:off x="457200" y="4645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o paso 4"/>
          <p:cNvSpPr txBox="1"/>
          <p:nvPr/>
        </p:nvSpPr>
        <p:spPr>
          <a:xfrm>
            <a:off x="941832" y="4608576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Entrega al Taller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Pasa a Granel Taller y la orden queda atendida</a:t>
            </a:r>
            <a:endParaRPr lang="en-US" sz="1300" dirty="0"/>
          </a:p>
        </p:txBody>
      </p:sp>
      <p:sp>
        <p:nvSpPr>
          <p:cNvPr id="19" name="Paso 5"/>
          <p:cNvSpPr/>
          <p:nvPr/>
        </p:nvSpPr>
        <p:spPr>
          <a:xfrm>
            <a:off x="457200" y="5248656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Número 5"/>
          <p:cNvSpPr txBox="1"/>
          <p:nvPr/>
        </p:nvSpPr>
        <p:spPr>
          <a:xfrm>
            <a:off x="457200" y="5248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o paso 5"/>
          <p:cNvSpPr txBox="1"/>
          <p:nvPr/>
        </p:nvSpPr>
        <p:spPr>
          <a:xfrm>
            <a:off x="941832" y="5212080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Cuida los insumos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Almacén → Insumos: compras, salidas y ajustes</a:t>
            </a:r>
            <a:endParaRPr lang="en-US" sz="1300" dirty="0"/>
          </a:p>
        </p:txBody>
      </p:sp>
      <p:sp>
        <p:nvSpPr>
          <p:cNvPr id="22" name="Paso 6"/>
          <p:cNvSpPr/>
          <p:nvPr/>
        </p:nvSpPr>
        <p:spPr>
          <a:xfrm>
            <a:off x="457200" y="58521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Número 6"/>
          <p:cNvSpPr txBox="1"/>
          <p:nvPr/>
        </p:nvSpPr>
        <p:spPr>
          <a:xfrm>
            <a:off x="457200" y="5852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4" name="Texto paso 6"/>
          <p:cNvSpPr txBox="1"/>
          <p:nvPr/>
        </p:nvSpPr>
        <p:spPr>
          <a:xfrm>
            <a:off x="941832" y="5815584"/>
            <a:ext cx="6163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Fija mínimos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El almacén avisa cuando un insumo baja del mínimo</a:t>
            </a:r>
            <a:endParaRPr lang="en-US" sz="1300" dirty="0"/>
          </a:p>
        </p:txBody>
      </p:sp>
      <p:sp>
        <p:nvSpPr>
          <p:cNvPr id="25" name="Marco lab-ordenes"/>
          <p:cNvSpPr/>
          <p:nvPr/>
        </p:nvSpPr>
        <p:spPr>
          <a:xfrm>
            <a:off x="466344" y="6556248"/>
            <a:ext cx="3273552" cy="2073402"/>
          </a:xfrm>
          <a:prstGeom prst="roundRect">
            <a:avLst>
              <a:gd name="adj" fmla="val 2646"/>
            </a:avLst>
          </a:prstGeom>
          <a:solidFill>
            <a:schemeClr val="bg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26" name="Captura lab-ordenes" descr="Pantalla de la aplicación: lab orde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92824"/>
            <a:ext cx="3200400" cy="2000250"/>
          </a:xfrm>
          <a:prstGeom prst="rect">
            <a:avLst/>
          </a:prstGeom>
        </p:spPr>
      </p:pic>
      <p:sp>
        <p:nvSpPr>
          <p:cNvPr id="27" name="Marco lab-lotes"/>
          <p:cNvSpPr/>
          <p:nvPr/>
        </p:nvSpPr>
        <p:spPr>
          <a:xfrm>
            <a:off x="3849624" y="6556248"/>
            <a:ext cx="3273552" cy="2073402"/>
          </a:xfrm>
          <a:prstGeom prst="roundRect">
            <a:avLst>
              <a:gd name="adj" fmla="val 2646"/>
            </a:avLst>
          </a:prstGeom>
          <a:solidFill>
            <a:schemeClr val="bg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28" name="Captura lab-lotes" descr="Pantalla de la aplicación: lab lo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6592824"/>
            <a:ext cx="3200400" cy="2000250"/>
          </a:xfrm>
          <a:prstGeom prst="rect">
            <a:avLst/>
          </a:prstGeom>
        </p:spPr>
      </p:pic>
      <p:sp>
        <p:nvSpPr>
          <p:cNvPr id="29" name="Tarjeta No puedes"/>
          <p:cNvSpPr/>
          <p:nvPr/>
        </p:nvSpPr>
        <p:spPr>
          <a:xfrm>
            <a:off x="457200" y="9555480"/>
            <a:ext cx="324612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30" name="Texto No puedes"/>
          <p:cNvSpPr txBox="1"/>
          <p:nvPr/>
        </p:nvSpPr>
        <p:spPr>
          <a:xfrm>
            <a:off x="594360" y="964692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No puedes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Ver pedidos, clientes, precios ni cobros.</a:t>
            </a:r>
            <a:endParaRPr lang="en-US" sz="1200" dirty="0"/>
          </a:p>
        </p:txBody>
      </p:sp>
      <p:sp>
        <p:nvSpPr>
          <p:cNvPr id="31" name="Tarjeta Ayuda"/>
          <p:cNvSpPr/>
          <p:nvPr/>
        </p:nvSpPr>
        <p:spPr>
          <a:xfrm>
            <a:off x="3858768" y="9555480"/>
            <a:ext cx="324612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32" name="Texto Ayuda"/>
          <p:cNvSpPr txBox="1"/>
          <p:nvPr/>
        </p:nvSpPr>
        <p:spPr>
          <a:xfrm>
            <a:off x="3995928" y="964692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</a:rPr>
              <a:t>Ayuda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Mi cuenta → Manual · Avisar un error · Sugerir una mejora · Cambiar contraseña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turas Liz">
  <a:themeElements>
    <a:clrScheme name="Pinturas Liz">
      <a:dk1>
        <a:srgbClr val="0F1E3D"/>
      </a:dk1>
      <a:lt1>
        <a:srgbClr val="FFFFFF"/>
      </a:lt1>
      <a:dk2>
        <a:srgbClr val="0E3A8C"/>
      </a:dk2>
      <a:lt2>
        <a:srgbClr val="F4F6FB"/>
      </a:lt2>
      <a:accent1>
        <a:srgbClr val="C8202A"/>
      </a:accent1>
      <a:accent2>
        <a:srgbClr val="F6C21A"/>
      </a:accent2>
      <a:accent3>
        <a:srgbClr val="1559C2"/>
      </a:accent3>
      <a:accent4>
        <a:srgbClr val="2E9D45"/>
      </a:accent4>
      <a:accent5>
        <a:srgbClr val="F07A1C"/>
      </a:accent5>
      <a:accent6>
        <a:srgbClr val="6B7891"/>
      </a:accent6>
      <a:hlink>
        <a:srgbClr val="1559C2"/>
      </a:hlink>
      <a:folHlink>
        <a:srgbClr val="0E3A8C"/>
      </a:folHlink>
    </a:clrScheme>
    <a:fontScheme name="Pinturas Liz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Guías rápidas · Sistema Pinturas Liz</dc:title>
  <dc:subject>PptxGenJS Presentation</dc:subject>
  <dc:creator>Pinturas Liz</dc:creator>
  <cp:lastModifiedBy>Pinturas Liz</cp:lastModifiedBy>
  <cp:revision>1</cp:revision>
  <dcterms:created xsi:type="dcterms:W3CDTF">2026-10-21T16:53:38Z</dcterms:created>
  <dcterms:modified xsi:type="dcterms:W3CDTF">2026-10-21T16:53:38Z</dcterms:modified>
</cp:coreProperties>
</file>