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4e9bdd8d-dc60-9e42-ee36-4e39a5645dc8}">
          <p14:sldIdLst>
            <p14:sldId id="256"/>
            <p14:sldId id="257"/>
          </p14:sldIdLst>
        </p14:section>
        <p14:section name="Antes y después" id="{205fc777-bc10-3ab1-0663-8c74f325322a}">
          <p14:sldIdLst>
            <p14:sldId id="258"/>
            <p14:sldId id="259"/>
            <p14:sldId id="260"/>
          </p14:sldIdLst>
        </p14:section>
        <p14:section name="Beneficios" id="{e89c1b03-f944-d953-b786-6089da49d3fc}">
          <p14:sldIdLst>
            <p14:sldId id="261"/>
            <p14:sldId id="262"/>
          </p14:sldIdLst>
        </p14:section>
        <p14:section name="Hoja de ruta" id="{bf39bf5e-f790-062d-2487-dbf9effb570e}">
          <p14:sldIdLst>
            <p14:sldId id="263"/>
          </p14:sldIdLst>
        </p14:section>
        <p14:section name="Visión" id="{537a3423-8848-0e41-0936-3792f94f9ec2}">
          <p14:sldIdLst>
            <p14:sldId id="264"/>
          </p14:sldIdLst>
        </p14:section>
        <p14:section name="Cierre" id="{f697cafa-12a6-49bf-daa7-b99c85d35ebc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proyecto: una app propia que ordena el trabajo diario y es la base de los proyectos digitales para clientes.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principal: hoy la información vive en papel, WhatsApp y Excel. Con la app, cada pedido, precio, producción y cobro queda registrado en un solo lugar, en vivo, y con la empresa real ya cargada.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Describir el proceso actual: los pedidos llegan por muchos canales y se pasan a papel; la orden al Taller y al Laboratorio va por foto de WhatsApp; los cobros y créditos se anotan a mano; los precios están en un Excel.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Mismo recorrido, pero cada paso queda registrado y lo ve el siguiente responsable al instante. El precio sale del cliente; el Taller ve lo que debe envasar; el cobro genera recibo.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Comparación directa por área. Usar esta lámina para responder "¿qué cambia en el día a día?".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beneficios concretos. Destacar control del dinero y menos errores, que son los de impacto inmediato.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las pantallas reales: catálogo con precios del cliente, pedido con su empaque, lo que el Taller debe envasar y el cuadre de cobros.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Inicio a comienzos de octubre. A fines de octubre queda la primera versión completa. Las primeras semanas de noviembre los usuarios la prueban en el trabajo real y se hacen mejoras. Hoy estamos en la semana del 21 de octubre, con la versión 0.7.0.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app es la primera fase de un proyecto más grande. Al tener clientes, precios, productos, pedidos y stock digitalizados, se pueden construir servicios digitales para los clientes: ventas en línea, bot de WhatsApp, seguimiento de pedidos e indicadores para gerencia.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Pedidos concretos a gerencia para que el piloto de noviembre funcione.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53035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7724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pic>
        <p:nvPicPr>
          <p:cNvPr id="3" name="Image 0" descr="/home/claude/pinturas-liz-app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2" y="274320"/>
            <a:ext cx="566928" cy="4206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Pinturas Liz · Proyecto de digitalización · a cargo de Jordan R. · octubre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Digitalización de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Pinturas Liz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Sistema de gestión: del pedido al cobro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Presentación a Gerencia · octubre 2026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Proyecto a cargo de Jordan R.</a:t>
            </a:r>
            <a:endParaRPr lang="en-US" sz="1800" dirty="0"/>
          </a:p>
        </p:txBody>
      </p:sp>
      <p:sp>
        <p:nvSpPr>
          <p:cNvPr id="4" name="Fondo logo"/>
          <p:cNvSpPr/>
          <p:nvPr/>
        </p:nvSpPr>
        <p:spPr>
          <a:xfrm>
            <a:off x="6263640" y="1097280"/>
            <a:ext cx="2423160" cy="2834640"/>
          </a:xfrm>
          <a:prstGeom prst="roundRect">
            <a:avLst>
              <a:gd name="adj" fmla="val 754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Logo Pinturas Liz" descr="/home/claude/pinturas-liz-app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645920"/>
            <a:ext cx="2057400" cy="15361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Una sola app para todo el recorrido del pedido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Pedidos, precios por cliente, producción, taller, almacén y cobranzas en el celular de cada persona, con la información real de la empresa ya cargada.</a:t>
            </a:r>
            <a:endParaRPr lang="en-US" sz="1600" dirty="0"/>
          </a:p>
        </p:txBody>
      </p:sp>
      <p:sp>
        <p:nvSpPr>
          <p:cNvPr id="5" name="Dato módulos conectados"/>
          <p:cNvSpPr/>
          <p:nvPr/>
        </p:nvSpPr>
        <p:spPr>
          <a:xfrm>
            <a:off x="457200" y="1965960"/>
            <a:ext cx="1920240" cy="20116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D3DC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21488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6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00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módulos conectados</a:t>
            </a:r>
            <a:endParaRPr lang="en-US" sz="1400" dirty="0"/>
          </a:p>
        </p:txBody>
      </p:sp>
      <p:sp>
        <p:nvSpPr>
          <p:cNvPr id="8" name="Dato clientes cargados"/>
          <p:cNvSpPr/>
          <p:nvPr/>
        </p:nvSpPr>
        <p:spPr>
          <a:xfrm>
            <a:off x="2560320" y="1965960"/>
            <a:ext cx="1920240" cy="20116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D3DC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560320" y="21488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302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2651760" y="3200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clientes cargados</a:t>
            </a:r>
            <a:endParaRPr lang="en-US" sz="1400" dirty="0"/>
          </a:p>
        </p:txBody>
      </p:sp>
      <p:sp>
        <p:nvSpPr>
          <p:cNvPr id="11" name="Dato precios por cliente"/>
          <p:cNvSpPr/>
          <p:nvPr/>
        </p:nvSpPr>
        <p:spPr>
          <a:xfrm>
            <a:off x="4663440" y="1965960"/>
            <a:ext cx="1920240" cy="20116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D3DC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63440" y="21488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5"/>
                </a:solidFill>
              </a:rPr>
              <a:t>2,079</a:t>
            </a:r>
            <a:endParaRPr lang="en-US" sz="48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3200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precios por cliente</a:t>
            </a:r>
            <a:endParaRPr lang="en-US" sz="1400" dirty="0"/>
          </a:p>
        </p:txBody>
      </p:sp>
      <p:sp>
        <p:nvSpPr>
          <p:cNvPr id="14" name="Dato usuarios con su perfil"/>
          <p:cNvSpPr/>
          <p:nvPr/>
        </p:nvSpPr>
        <p:spPr>
          <a:xfrm>
            <a:off x="6766560" y="1965960"/>
            <a:ext cx="1920240" cy="20116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D3DC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66560" y="21488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4"/>
                </a:solidFill>
              </a:rPr>
              <a:t>10</a:t>
            </a:r>
            <a:endParaRPr lang="en-US" sz="48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3200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usuarios con su perfil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Versión 0.7.0 lista: 42 productos, 423 colores y 7 perfiles de usuario.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Hoy: la información está dispersa</a:t>
            </a:r>
            <a:endParaRPr lang="en-US" sz="2800" dirty="0"/>
          </a:p>
        </p:txBody>
      </p:sp>
      <p:sp>
        <p:nvSpPr>
          <p:cNvPr id="4" name="Círculo Pedidos por muchos canales"/>
          <p:cNvSpPr/>
          <p:nvPr/>
        </p:nvSpPr>
        <p:spPr>
          <a:xfrm>
            <a:off x="868680" y="1051560"/>
            <a:ext cx="777240" cy="7772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Ícono Pedidos por muchos canales" descr="Pedidos por muchos cana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238098"/>
            <a:ext cx="404165" cy="40416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1920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Pedidos por muchos canales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239572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Visitas, llamadas, WhatsApp, Facebook, Instagram</a:t>
            </a:r>
            <a:endParaRPr lang="en-US" sz="1100" dirty="0"/>
          </a:p>
        </p:txBody>
      </p:sp>
      <p:sp>
        <p:nvSpPr>
          <p:cNvPr id="8" name="Flecha hoy 0"/>
          <p:cNvSpPr/>
          <p:nvPr/>
        </p:nvSpPr>
        <p:spPr>
          <a:xfrm>
            <a:off x="1874520" y="1325880"/>
            <a:ext cx="292608" cy="22860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Círculo Se pasan a papel"/>
          <p:cNvSpPr/>
          <p:nvPr/>
        </p:nvSpPr>
        <p:spPr>
          <a:xfrm>
            <a:off x="2569464" y="1051560"/>
            <a:ext cx="777240" cy="7772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0" name="Ícono Se pasan a papel" descr="Se pasan a pap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002" y="1238098"/>
            <a:ext cx="404165" cy="40416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157984" y="1920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 pasan a papel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2157984" y="239572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Administración los consolida a mano</a:t>
            </a:r>
            <a:endParaRPr lang="en-US" sz="1100" dirty="0"/>
          </a:p>
        </p:txBody>
      </p:sp>
      <p:sp>
        <p:nvSpPr>
          <p:cNvPr id="13" name="Flecha hoy 1"/>
          <p:cNvSpPr/>
          <p:nvPr/>
        </p:nvSpPr>
        <p:spPr>
          <a:xfrm>
            <a:off x="3575304" y="1325880"/>
            <a:ext cx="292608" cy="22860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Círculo Órdenes por foto"/>
          <p:cNvSpPr/>
          <p:nvPr/>
        </p:nvSpPr>
        <p:spPr>
          <a:xfrm>
            <a:off x="4270248" y="1051560"/>
            <a:ext cx="777240" cy="7772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5" name="Ícono Órdenes por foto" descr="Órdenes por fo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786" y="1238098"/>
            <a:ext cx="404165" cy="40416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858768" y="1920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Órdenes por foto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3858768" y="239572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Al Taller y al Laboratorio por WhatsApp o papel</a:t>
            </a:r>
            <a:endParaRPr lang="en-US" sz="1100" dirty="0"/>
          </a:p>
        </p:txBody>
      </p:sp>
      <p:sp>
        <p:nvSpPr>
          <p:cNvPr id="18" name="Flecha hoy 2"/>
          <p:cNvSpPr/>
          <p:nvPr/>
        </p:nvSpPr>
        <p:spPr>
          <a:xfrm>
            <a:off x="5276088" y="1325880"/>
            <a:ext cx="292608" cy="22860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Círculo Cobros en cuaderno"/>
          <p:cNvSpPr/>
          <p:nvPr/>
        </p:nvSpPr>
        <p:spPr>
          <a:xfrm>
            <a:off x="5971032" y="1051560"/>
            <a:ext cx="777240" cy="7772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0" name="Ícono Cobros en cuaderno" descr="Cobros en cuadern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7570" y="1238098"/>
            <a:ext cx="404165" cy="40416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559552" y="1920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Cobros en cuaderno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5559552" y="239572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Créditos y saldos anotados a mano</a:t>
            </a:r>
            <a:endParaRPr lang="en-US" sz="1100" dirty="0"/>
          </a:p>
        </p:txBody>
      </p:sp>
      <p:sp>
        <p:nvSpPr>
          <p:cNvPr id="23" name="Flecha hoy 3"/>
          <p:cNvSpPr/>
          <p:nvPr/>
        </p:nvSpPr>
        <p:spPr>
          <a:xfrm>
            <a:off x="6976872" y="1325880"/>
            <a:ext cx="292608" cy="22860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Círculo Precios en Excel"/>
          <p:cNvSpPr/>
          <p:nvPr/>
        </p:nvSpPr>
        <p:spPr>
          <a:xfrm>
            <a:off x="7671816" y="1051560"/>
            <a:ext cx="777240" cy="7772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5" name="Ícono Precios en Excel" descr="Precios en Exce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354" y="1238098"/>
            <a:ext cx="404165" cy="40416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260336" y="1920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Precios en Excel</a:t>
            </a:r>
            <a:endParaRPr lang="en-US" sz="1300" dirty="0"/>
          </a:p>
        </p:txBody>
      </p:sp>
      <p:sp>
        <p:nvSpPr>
          <p:cNvPr id="27" name="Text 19"/>
          <p:cNvSpPr txBox="1"/>
          <p:nvPr/>
        </p:nvSpPr>
        <p:spPr>
          <a:xfrm>
            <a:off x="7260336" y="239572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Cada cliente con precios distintos</a:t>
            </a:r>
            <a:endParaRPr lang="en-US" sz="1100" dirty="0"/>
          </a:p>
        </p:txBody>
      </p:sp>
      <p:sp>
        <p:nvSpPr>
          <p:cNvPr id="28" name="Problemas"/>
          <p:cNvSpPr/>
          <p:nvPr/>
        </p:nvSpPr>
        <p:spPr>
          <a:xfrm>
            <a:off x="457200" y="3246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BEAEA"/>
          </a:solidFill>
          <a:ln w="12700">
            <a:solidFill>
              <a:srgbClr val="F2C4C4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640080" y="3337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Lo que esto causa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640080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✕  Errores de precio y de color</a:t>
            </a:r>
            <a:endParaRPr lang="en-US" sz="1250" dirty="0"/>
          </a:p>
        </p:txBody>
      </p:sp>
      <p:sp>
        <p:nvSpPr>
          <p:cNvPr id="31" name="Text 23"/>
          <p:cNvSpPr txBox="1"/>
          <p:nvPr/>
        </p:nvSpPr>
        <p:spPr>
          <a:xfrm>
            <a:off x="3337560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✕  No se sabe en qué estado está un pedido</a:t>
            </a:r>
            <a:endParaRPr lang="en-US" sz="1250" dirty="0"/>
          </a:p>
        </p:txBody>
      </p:sp>
      <p:sp>
        <p:nvSpPr>
          <p:cNvPr id="32" name="Text 24"/>
          <p:cNvSpPr txBox="1"/>
          <p:nvPr/>
        </p:nvSpPr>
        <p:spPr>
          <a:xfrm>
            <a:off x="6035040" y="3703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✕  Stock e insumos sin control</a:t>
            </a:r>
            <a:endParaRPr lang="en-US" sz="1250" dirty="0"/>
          </a:p>
        </p:txBody>
      </p:sp>
      <p:sp>
        <p:nvSpPr>
          <p:cNvPr id="33" name="Text 25"/>
          <p:cNvSpPr txBox="1"/>
          <p:nvPr/>
        </p:nvSpPr>
        <p:spPr>
          <a:xfrm>
            <a:off x="640080" y="4114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✕  Cobros y créditos difíciles de cuadrar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3337560" y="4114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✕  Información que depende de una persona</a:t>
            </a:r>
            <a:endParaRPr lang="en-US" sz="1250" dirty="0"/>
          </a:p>
        </p:txBody>
      </p:sp>
      <p:sp>
        <p:nvSpPr>
          <p:cNvPr id="35" name="Text 27"/>
          <p:cNvSpPr txBox="1"/>
          <p:nvPr/>
        </p:nvSpPr>
        <p:spPr>
          <a:xfrm>
            <a:off x="6035040" y="4114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✕  Sin datos para decidir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 la app: un flujo ordenado y en vivo</a:t>
            </a:r>
            <a:endParaRPr lang="en-US" sz="2800" dirty="0"/>
          </a:p>
        </p:txBody>
      </p:sp>
      <p:sp>
        <p:nvSpPr>
          <p:cNvPr id="4" name="Círculo Vendedor"/>
          <p:cNvSpPr/>
          <p:nvPr/>
        </p:nvSpPr>
        <p:spPr>
          <a:xfrm>
            <a:off x="685800" y="105156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Ícono Vendedor" descr="Vende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216152"/>
            <a:ext cx="356616" cy="35661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11480" y="18105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Vendedor</a:t>
            </a:r>
            <a:endParaRPr lang="en-US" sz="1250" dirty="0"/>
          </a:p>
        </p:txBody>
      </p:sp>
      <p:sp>
        <p:nvSpPr>
          <p:cNvPr id="7" name="Text 3"/>
          <p:cNvSpPr txBox="1"/>
          <p:nvPr/>
        </p:nvSpPr>
        <p:spPr>
          <a:xfrm>
            <a:off x="411480" y="224028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Registra el pedido en el celular con el precio del cliente</a:t>
            </a:r>
            <a:endParaRPr lang="en-US" sz="1050" dirty="0"/>
          </a:p>
        </p:txBody>
      </p:sp>
      <p:sp>
        <p:nvSpPr>
          <p:cNvPr id="8" name="Flecha app 0"/>
          <p:cNvSpPr/>
          <p:nvPr/>
        </p:nvSpPr>
        <p:spPr>
          <a:xfrm>
            <a:off x="1435608" y="1280160"/>
            <a:ext cx="228600" cy="20116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Círculo Administración"/>
          <p:cNvSpPr/>
          <p:nvPr/>
        </p:nvSpPr>
        <p:spPr>
          <a:xfrm>
            <a:off x="1901952" y="1051560"/>
            <a:ext cx="685800" cy="6858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Ícono Administración" descr="Administració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544" y="1216152"/>
            <a:ext cx="356616" cy="35661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27632" y="18105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Administración</a:t>
            </a:r>
            <a:endParaRPr lang="en-US" sz="1250" dirty="0"/>
          </a:p>
        </p:txBody>
      </p:sp>
      <p:sp>
        <p:nvSpPr>
          <p:cNvPr id="12" name="Text 7"/>
          <p:cNvSpPr txBox="1"/>
          <p:nvPr/>
        </p:nvSpPr>
        <p:spPr>
          <a:xfrm>
            <a:off x="1627632" y="224028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Revisa, corrige o envía al Taller</a:t>
            </a:r>
            <a:endParaRPr lang="en-US" sz="1050" dirty="0"/>
          </a:p>
        </p:txBody>
      </p:sp>
      <p:sp>
        <p:nvSpPr>
          <p:cNvPr id="13" name="Flecha app 1"/>
          <p:cNvSpPr/>
          <p:nvPr/>
        </p:nvSpPr>
        <p:spPr>
          <a:xfrm>
            <a:off x="2651760" y="1280160"/>
            <a:ext cx="228600" cy="20116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Círculo Laboratorio y Taller"/>
          <p:cNvSpPr/>
          <p:nvPr/>
        </p:nvSpPr>
        <p:spPr>
          <a:xfrm>
            <a:off x="3118104" y="10515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Ícono Laboratorio y Taller" descr="Laboratorio y Tall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696" y="1216152"/>
            <a:ext cx="356616" cy="35661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2843784" y="18105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Laboratorio y Taller</a:t>
            </a:r>
            <a:endParaRPr lang="en-US" sz="1250" dirty="0"/>
          </a:p>
        </p:txBody>
      </p:sp>
      <p:sp>
        <p:nvSpPr>
          <p:cNvPr id="17" name="Text 11"/>
          <p:cNvSpPr txBox="1"/>
          <p:nvPr/>
        </p:nvSpPr>
        <p:spPr>
          <a:xfrm>
            <a:off x="2843784" y="224028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Producen, envasan y arman el pedido</a:t>
            </a:r>
            <a:endParaRPr lang="en-US" sz="1050" dirty="0"/>
          </a:p>
        </p:txBody>
      </p:sp>
      <p:sp>
        <p:nvSpPr>
          <p:cNvPr id="18" name="Flecha app 2"/>
          <p:cNvSpPr/>
          <p:nvPr/>
        </p:nvSpPr>
        <p:spPr>
          <a:xfrm>
            <a:off x="3867912" y="1280160"/>
            <a:ext cx="228600" cy="20116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Círculo Despacho"/>
          <p:cNvSpPr/>
          <p:nvPr/>
        </p:nvSpPr>
        <p:spPr>
          <a:xfrm>
            <a:off x="4334256" y="105156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Ícono Despacho" descr="Despach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1216152"/>
            <a:ext cx="356616" cy="35661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059936" y="18105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Despacho</a:t>
            </a:r>
            <a:endParaRPr lang="en-US" sz="1250" dirty="0"/>
          </a:p>
        </p:txBody>
      </p:sp>
      <p:sp>
        <p:nvSpPr>
          <p:cNvPr id="22" name="Text 15"/>
          <p:cNvSpPr txBox="1"/>
          <p:nvPr/>
        </p:nvSpPr>
        <p:spPr>
          <a:xfrm>
            <a:off x="4059936" y="224028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Despacha y marca la entrega</a:t>
            </a:r>
            <a:endParaRPr lang="en-US" sz="1050" dirty="0"/>
          </a:p>
        </p:txBody>
      </p:sp>
      <p:sp>
        <p:nvSpPr>
          <p:cNvPr id="23" name="Flecha app 3"/>
          <p:cNvSpPr/>
          <p:nvPr/>
        </p:nvSpPr>
        <p:spPr>
          <a:xfrm>
            <a:off x="5084064" y="1280160"/>
            <a:ext cx="228600" cy="20116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Círculo Cobro"/>
          <p:cNvSpPr/>
          <p:nvPr/>
        </p:nvSpPr>
        <p:spPr>
          <a:xfrm>
            <a:off x="5550408" y="10515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Ícono Cobro" descr="Cobr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1216152"/>
            <a:ext cx="356616" cy="35661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276088" y="18105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Cobro</a:t>
            </a:r>
            <a:endParaRPr lang="en-US" sz="1250" dirty="0"/>
          </a:p>
        </p:txBody>
      </p:sp>
      <p:sp>
        <p:nvSpPr>
          <p:cNvPr id="27" name="Text 19"/>
          <p:cNvSpPr txBox="1"/>
          <p:nvPr/>
        </p:nvSpPr>
        <p:spPr>
          <a:xfrm>
            <a:off x="5276088" y="224028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Recibo numerado y cuadre del dinero</a:t>
            </a:r>
            <a:endParaRPr lang="en-US" sz="1050" dirty="0"/>
          </a:p>
        </p:txBody>
      </p:sp>
      <p:sp>
        <p:nvSpPr>
          <p:cNvPr id="28" name="Resultado"/>
          <p:cNvSpPr/>
          <p:nvPr/>
        </p:nvSpPr>
        <p:spPr>
          <a:xfrm>
            <a:off x="457200" y="3291840"/>
            <a:ext cx="5852160" cy="1325880"/>
          </a:xfrm>
          <a:prstGeom prst="roundRect">
            <a:avLst>
              <a:gd name="adj" fmla="val 6897"/>
            </a:avLst>
          </a:prstGeom>
          <a:solidFill>
            <a:srgbClr val="E8F3EA"/>
          </a:solidFill>
          <a:ln w="12700">
            <a:solidFill>
              <a:srgbClr val="C5E3CB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640080" y="3383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Todo queda registrado, con nombre y hora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640080" y="3730752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Cada persona ve solo su parte · los cambios llegan en vivo · si algo está mal, el pedido vuelve a revisión con alerta · socios y Administración reciben las novedades de clientes y precios</a:t>
            </a:r>
            <a:endParaRPr lang="en-US" sz="1250" dirty="0"/>
          </a:p>
        </p:txBody>
      </p:sp>
      <p:sp>
        <p:nvSpPr>
          <p:cNvPr id="31" name="Marco vend-producto-unidades"/>
          <p:cNvSpPr/>
          <p:nvPr/>
        </p:nvSpPr>
        <p:spPr>
          <a:xfrm>
            <a:off x="6931152" y="850392"/>
            <a:ext cx="1839266" cy="3831336"/>
          </a:xfrm>
          <a:prstGeom prst="roundRect">
            <a:avLst>
              <a:gd name="adj" fmla="val 6960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32" name="Captura vend-producto-unidades" descr="Pantalla de la aplicación: vend producto unidad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914400"/>
            <a:ext cx="1711250" cy="3703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Antes y después</a:t>
            </a:r>
            <a:endParaRPr lang="en-US" sz="2800" dirty="0"/>
          </a:p>
        </p:txBody>
      </p:sp>
      <p:graphicFrame>
        <p:nvGraphicFramePr>
          <p:cNvPr id="6" name="Tabla antes y despué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926080"/>
                <a:gridCol w="3749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Área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 la app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Pedidos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Varios canales, pasados a papel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Un registro único, con número y estado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Precios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Excel; errores al cotizar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El precio de cada cliente aparece solo; sugerido para nuevos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Producción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Órdenes por foto o papel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Órdenes, lotes y validación registrados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Taller y stock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Se calcula a ojo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Qué envasar, granel y materiales al día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Cobranzas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Cuaderno y memoria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Recibos, saldos, vencidos y cuadre del dinero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Gerencia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Pregunta a cada persona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Ve todo en vivo desde su celular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Beneficios para la empresa</a:t>
            </a:r>
            <a:endParaRPr lang="en-US" sz="2800" dirty="0"/>
          </a:p>
        </p:txBody>
      </p:sp>
      <p:sp>
        <p:nvSpPr>
          <p:cNvPr id="4" name="Beneficio Menos errores"/>
          <p:cNvSpPr/>
          <p:nvPr/>
        </p:nvSpPr>
        <p:spPr>
          <a:xfrm>
            <a:off x="457200" y="1051560"/>
            <a:ext cx="260604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rgbClr val="D3DCEC"/>
            </a:solidFill>
            <a:prstDash val="solid"/>
          </a:ln>
        </p:spPr>
      </p:sp>
      <p:sp>
        <p:nvSpPr>
          <p:cNvPr id="5" name="Círculo Menos errores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Ícono Menos errores" descr="Menos erro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36611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Menos errores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1920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Precio, color y cantidad correctos desde el pedido</a:t>
            </a:r>
            <a:endParaRPr lang="en-US" sz="1250" dirty="0"/>
          </a:p>
        </p:txBody>
      </p:sp>
      <p:sp>
        <p:nvSpPr>
          <p:cNvPr id="9" name="Beneficio Más rapidez"/>
          <p:cNvSpPr/>
          <p:nvPr/>
        </p:nvSpPr>
        <p:spPr>
          <a:xfrm>
            <a:off x="3246120" y="1051560"/>
            <a:ext cx="260604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rgbClr val="D3DCEC"/>
            </a:solidFill>
            <a:prstDash val="solid"/>
          </a:ln>
        </p:spPr>
      </p:sp>
      <p:sp>
        <p:nvSpPr>
          <p:cNvPr id="10" name="Círculo Más rapidez"/>
          <p:cNvSpPr/>
          <p:nvPr/>
        </p:nvSpPr>
        <p:spPr>
          <a:xfrm>
            <a:off x="3429000" y="123444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1" name="Ícono Más rapidez" descr="Más rapidez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0674" y="136611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11480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Más rapidez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3429000" y="1920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El pedido llega al Taller al instante, sin pasar a papel</a:t>
            </a:r>
            <a:endParaRPr lang="en-US" sz="1250" dirty="0"/>
          </a:p>
        </p:txBody>
      </p:sp>
      <p:sp>
        <p:nvSpPr>
          <p:cNvPr id="14" name="Beneficio Control del dinero"/>
          <p:cNvSpPr/>
          <p:nvPr/>
        </p:nvSpPr>
        <p:spPr>
          <a:xfrm>
            <a:off x="6035040" y="1051560"/>
            <a:ext cx="260604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rgbClr val="D3DCEC"/>
            </a:solidFill>
            <a:prstDash val="solid"/>
          </a:ln>
        </p:spPr>
      </p:sp>
      <p:sp>
        <p:nvSpPr>
          <p:cNvPr id="15" name="Círculo Control del dinero"/>
          <p:cNvSpPr/>
          <p:nvPr/>
        </p:nvSpPr>
        <p:spPr>
          <a:xfrm>
            <a:off x="6217920" y="12344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Ícono Control del dinero" descr="Control del diner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594" y="136611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903720" y="1280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Control del dinero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217920" y="1920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Cada cobro con recibo; saldos y vencidos al día</a:t>
            </a:r>
            <a:endParaRPr lang="en-US" sz="1250" dirty="0"/>
          </a:p>
        </p:txBody>
      </p:sp>
      <p:sp>
        <p:nvSpPr>
          <p:cNvPr id="19" name="Beneficio Trazabilidad"/>
          <p:cNvSpPr/>
          <p:nvPr/>
        </p:nvSpPr>
        <p:spPr>
          <a:xfrm>
            <a:off x="457200" y="2880360"/>
            <a:ext cx="260604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rgbClr val="D3DCEC"/>
            </a:solidFill>
            <a:prstDash val="solid"/>
          </a:ln>
        </p:spPr>
      </p:sp>
      <p:sp>
        <p:nvSpPr>
          <p:cNvPr id="20" name="Círculo Trazabilidad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Ícono Trazabilidad" descr="Trazabilida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4" y="3194914"/>
            <a:ext cx="285293" cy="28529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25880" y="3108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Trazabilidad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" y="3749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Quién hizo qué y cuándo en cada pedido</a:t>
            </a:r>
            <a:endParaRPr lang="en-US" sz="1250" dirty="0"/>
          </a:p>
        </p:txBody>
      </p:sp>
      <p:sp>
        <p:nvSpPr>
          <p:cNvPr id="24" name="Beneficio Inventario visible"/>
          <p:cNvSpPr/>
          <p:nvPr/>
        </p:nvSpPr>
        <p:spPr>
          <a:xfrm>
            <a:off x="3246120" y="2880360"/>
            <a:ext cx="260604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rgbClr val="D3DCEC"/>
            </a:solidFill>
            <a:prstDash val="solid"/>
          </a:ln>
        </p:spPr>
      </p:sp>
      <p:sp>
        <p:nvSpPr>
          <p:cNvPr id="25" name="Círculo Inventario visible"/>
          <p:cNvSpPr/>
          <p:nvPr/>
        </p:nvSpPr>
        <p:spPr>
          <a:xfrm>
            <a:off x="3429000" y="30632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Ícono Inventario visible" descr="Inventario visib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0674" y="3194914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114800" y="3108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Inventario visible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3429000" y="3749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Insumos, granel, materiales y envasado</a:t>
            </a:r>
            <a:endParaRPr lang="en-US" sz="1250" dirty="0"/>
          </a:p>
        </p:txBody>
      </p:sp>
      <p:sp>
        <p:nvSpPr>
          <p:cNvPr id="29" name="Beneficio Decisiones con datos"/>
          <p:cNvSpPr/>
          <p:nvPr/>
        </p:nvSpPr>
        <p:spPr>
          <a:xfrm>
            <a:off x="6035040" y="2880360"/>
            <a:ext cx="260604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rgbClr val="D3DCEC"/>
            </a:solidFill>
            <a:prstDash val="solid"/>
          </a:ln>
        </p:spPr>
      </p:sp>
      <p:sp>
        <p:nvSpPr>
          <p:cNvPr id="30" name="Círculo Decisiones con datos"/>
          <p:cNvSpPr/>
          <p:nvPr/>
        </p:nvSpPr>
        <p:spPr>
          <a:xfrm>
            <a:off x="6217920" y="3063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Ícono Decisiones con datos" descr="Decisiones con dato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9594" y="3194914"/>
            <a:ext cx="285293" cy="285293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903720" y="3108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Decisiones con datos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6217920" y="3749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Base para indicadores de ventas y producción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Así se ve la app</a:t>
            </a:r>
            <a:endParaRPr lang="en-US" sz="2800" dirty="0"/>
          </a:p>
        </p:txBody>
      </p:sp>
      <p:sp>
        <p:nvSpPr>
          <p:cNvPr id="4" name="Marco vend-catalogo"/>
          <p:cNvSpPr/>
          <p:nvPr/>
        </p:nvSpPr>
        <p:spPr>
          <a:xfrm>
            <a:off x="621792" y="896112"/>
            <a:ext cx="1649127" cy="3419856"/>
          </a:xfrm>
          <a:prstGeom prst="roundRect">
            <a:avLst>
              <a:gd name="adj" fmla="val 7763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5" name="Captura vend-catalogo" descr="Pantalla de la aplicación: vend cata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960120"/>
            <a:ext cx="1521111" cy="32918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343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Catálogo con precios del cliente</a:t>
            </a:r>
            <a:endParaRPr lang="en-US" sz="1200" dirty="0"/>
          </a:p>
        </p:txBody>
      </p:sp>
      <p:sp>
        <p:nvSpPr>
          <p:cNvPr id="7" name="Marco vend-pedido-empaque"/>
          <p:cNvSpPr/>
          <p:nvPr/>
        </p:nvSpPr>
        <p:spPr>
          <a:xfrm>
            <a:off x="2679192" y="896112"/>
            <a:ext cx="1649127" cy="3419856"/>
          </a:xfrm>
          <a:prstGeom prst="roundRect">
            <a:avLst>
              <a:gd name="adj" fmla="val 7763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8" name="Captura vend-pedido-empaque" descr="Pantalla de la aplicación: vend pedido emp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960120"/>
            <a:ext cx="1521111" cy="32918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514600" y="4343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Pedido con su estado y empaque</a:t>
            </a:r>
            <a:endParaRPr lang="en-US" sz="1200" dirty="0"/>
          </a:p>
        </p:txBody>
      </p:sp>
      <p:sp>
        <p:nvSpPr>
          <p:cNvPr id="10" name="Marco taller-por-envasar"/>
          <p:cNvSpPr/>
          <p:nvPr/>
        </p:nvSpPr>
        <p:spPr>
          <a:xfrm>
            <a:off x="4736592" y="896112"/>
            <a:ext cx="1649127" cy="3419856"/>
          </a:xfrm>
          <a:prstGeom prst="roundRect">
            <a:avLst>
              <a:gd name="adj" fmla="val 7763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11" name="Captura taller-por-envasar" descr="Pantalla de la aplicación: taller por envas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960120"/>
            <a:ext cx="1521111" cy="329184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572000" y="4343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Taller: qué envasar</a:t>
            </a:r>
            <a:endParaRPr lang="en-US" sz="1200" dirty="0"/>
          </a:p>
        </p:txBody>
      </p:sp>
      <p:sp>
        <p:nvSpPr>
          <p:cNvPr id="13" name="Marco vend-cobros"/>
          <p:cNvSpPr/>
          <p:nvPr/>
        </p:nvSpPr>
        <p:spPr>
          <a:xfrm>
            <a:off x="6793992" y="896112"/>
            <a:ext cx="1649127" cy="3419856"/>
          </a:xfrm>
          <a:prstGeom prst="roundRect">
            <a:avLst>
              <a:gd name="adj" fmla="val 7763"/>
            </a:avLst>
          </a:prstGeom>
          <a:solidFill>
            <a:schemeClr val="tx1"/>
          </a:solidFill>
          <a:ln w="9525">
            <a:solidFill>
              <a:srgbClr val="D3D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18000"/>
              </a:srgbClr>
            </a:outerShdw>
          </a:effectLst>
        </p:spPr>
      </p:sp>
      <p:pic>
        <p:nvPicPr>
          <p:cNvPr id="14" name="Captura vend-cobros" descr="Pantalla de la aplicación: vend cobro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960120"/>
            <a:ext cx="1521111" cy="329184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629400" y="4343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Cobros y cuadre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Hoja de ruta: octubre y noviembre 2026</a:t>
            </a:r>
            <a:endParaRPr lang="en-US" sz="2800" dirty="0"/>
          </a:p>
        </p:txBody>
      </p:sp>
      <p:sp>
        <p:nvSpPr>
          <p:cNvPr id="4" name="Semana 1–7 oct"/>
          <p:cNvSpPr/>
          <p:nvPr/>
        </p:nvSpPr>
        <p:spPr>
          <a:xfrm>
            <a:off x="3017520" y="1051560"/>
            <a:ext cx="905256" cy="347472"/>
          </a:xfrm>
          <a:prstGeom prst="rect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3017520" y="1051560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1–7 oct</a:t>
            </a:r>
            <a:endParaRPr lang="en-US" sz="1100" dirty="0"/>
          </a:p>
        </p:txBody>
      </p:sp>
      <p:sp>
        <p:nvSpPr>
          <p:cNvPr id="6" name="Semana 8–14 oct"/>
          <p:cNvSpPr/>
          <p:nvPr/>
        </p:nvSpPr>
        <p:spPr>
          <a:xfrm>
            <a:off x="3959352" y="1051560"/>
            <a:ext cx="905256" cy="347472"/>
          </a:xfrm>
          <a:prstGeom prst="rect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959352" y="1051560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8–14 oct</a:t>
            </a:r>
            <a:endParaRPr lang="en-US" sz="1100" dirty="0"/>
          </a:p>
        </p:txBody>
      </p:sp>
      <p:sp>
        <p:nvSpPr>
          <p:cNvPr id="8" name="Semana 15–21 oct"/>
          <p:cNvSpPr/>
          <p:nvPr/>
        </p:nvSpPr>
        <p:spPr>
          <a:xfrm>
            <a:off x="4901184" y="1051560"/>
            <a:ext cx="905256" cy="347472"/>
          </a:xfrm>
          <a:prstGeom prst="rect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01184" y="1051560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15–21 oct</a:t>
            </a:r>
            <a:endParaRPr lang="en-US" sz="1100" dirty="0"/>
          </a:p>
        </p:txBody>
      </p:sp>
      <p:sp>
        <p:nvSpPr>
          <p:cNvPr id="10" name="Semana 22–31 oct"/>
          <p:cNvSpPr/>
          <p:nvPr/>
        </p:nvSpPr>
        <p:spPr>
          <a:xfrm>
            <a:off x="5843016" y="1051560"/>
            <a:ext cx="905256" cy="347472"/>
          </a:xfrm>
          <a:prstGeom prst="rect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43016" y="1051560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22–31 oct</a:t>
            </a:r>
            <a:endParaRPr lang="en-US" sz="1100" dirty="0"/>
          </a:p>
        </p:txBody>
      </p:sp>
      <p:sp>
        <p:nvSpPr>
          <p:cNvPr id="12" name="Semana 1–7 nov"/>
          <p:cNvSpPr/>
          <p:nvPr/>
        </p:nvSpPr>
        <p:spPr>
          <a:xfrm>
            <a:off x="6784848" y="1051560"/>
            <a:ext cx="905256" cy="34747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784848" y="1051560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1–7 nov</a:t>
            </a:r>
            <a:endParaRPr lang="en-US" sz="1100" dirty="0"/>
          </a:p>
        </p:txBody>
      </p:sp>
      <p:sp>
        <p:nvSpPr>
          <p:cNvPr id="14" name="Semana 8–15 nov"/>
          <p:cNvSpPr/>
          <p:nvPr/>
        </p:nvSpPr>
        <p:spPr>
          <a:xfrm>
            <a:off x="7726680" y="1051560"/>
            <a:ext cx="905256" cy="34747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26680" y="1051560"/>
            <a:ext cx="905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8–15 nov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017520" y="758952"/>
            <a:ext cx="3767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Octubre: construcción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784848" y="75895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Noviembre: piloto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15727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Diseño y pedidos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Estructura, prototipo y módulo Pedidos (0.1–0.2)</a:t>
            </a:r>
            <a:endParaRPr lang="en-US" sz="1250" dirty="0"/>
          </a:p>
        </p:txBody>
      </p:sp>
      <p:sp>
        <p:nvSpPr>
          <p:cNvPr id="19" name="Barra Diseño y pedidos"/>
          <p:cNvSpPr/>
          <p:nvPr/>
        </p:nvSpPr>
        <p:spPr>
          <a:xfrm>
            <a:off x="3044952" y="1682496"/>
            <a:ext cx="850392" cy="329184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217627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Módulos y datos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Cobranzas, Producción, Taller, Almacén y datos reales (0.3–0.4)</a:t>
            </a:r>
            <a:endParaRPr lang="en-US" sz="1250" dirty="0"/>
          </a:p>
        </p:txBody>
      </p:sp>
      <p:sp>
        <p:nvSpPr>
          <p:cNvPr id="21" name="Barra Módulos y datos"/>
          <p:cNvSpPr/>
          <p:nvPr/>
        </p:nvSpPr>
        <p:spPr>
          <a:xfrm>
            <a:off x="3986784" y="2286000"/>
            <a:ext cx="850392" cy="329184"/>
          </a:xfrm>
          <a:prstGeom prst="roundRect">
            <a:avLst>
              <a:gd name="adj" fmla="val 2222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2779776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Mejoras y perfiles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Fotos, unidades, revisión, usuarios, manual y capacitación (0.5–0.7)</a:t>
            </a:r>
            <a:endParaRPr lang="en-US" sz="1250" dirty="0"/>
          </a:p>
        </p:txBody>
      </p:sp>
      <p:sp>
        <p:nvSpPr>
          <p:cNvPr id="23" name="Barra Mejoras y perfiles"/>
          <p:cNvSpPr/>
          <p:nvPr/>
        </p:nvSpPr>
        <p:spPr>
          <a:xfrm>
            <a:off x="4928616" y="2889504"/>
            <a:ext cx="850392" cy="329184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7200" y="33832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Primera versión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Ajustes finales y capacitación: lista para usar</a:t>
            </a:r>
            <a:endParaRPr lang="en-US" sz="1250" dirty="0"/>
          </a:p>
        </p:txBody>
      </p:sp>
      <p:sp>
        <p:nvSpPr>
          <p:cNvPr id="25" name="Barra Primera versión"/>
          <p:cNvSpPr/>
          <p:nvPr/>
        </p:nvSpPr>
        <p:spPr>
          <a:xfrm>
            <a:off x="5870448" y="3493008"/>
            <a:ext cx="850392" cy="329184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" y="398678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2"/>
                </a:solidFill>
              </a:rPr>
              <a:t>Piloto con usuarios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Uso real, sugerencias de mejora y correcciones</a:t>
            </a:r>
            <a:endParaRPr lang="en-US" sz="1250" dirty="0"/>
          </a:p>
        </p:txBody>
      </p:sp>
      <p:sp>
        <p:nvSpPr>
          <p:cNvPr id="27" name="Barra Piloto con usuarios"/>
          <p:cNvSpPr/>
          <p:nvPr/>
        </p:nvSpPr>
        <p:spPr>
          <a:xfrm>
            <a:off x="6812280" y="4096512"/>
            <a:ext cx="1792224" cy="329184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Línea hoy"/>
          <p:cNvSpPr/>
          <p:nvPr/>
        </p:nvSpPr>
        <p:spPr>
          <a:xfrm>
            <a:off x="5806440" y="1444752"/>
            <a:ext cx="0" cy="306324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</a:ln>
        </p:spPr>
      </p:sp>
      <p:sp>
        <p:nvSpPr>
          <p:cNvPr id="29" name="Text 26"/>
          <p:cNvSpPr txBox="1"/>
          <p:nvPr/>
        </p:nvSpPr>
        <p:spPr>
          <a:xfrm>
            <a:off x="4892040" y="45262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Hoy · 21 oct · versión 0.7.0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Digitalizar los datos: la base de todo lo que viene</a:t>
            </a:r>
            <a:endParaRPr lang="en-US" sz="2800" dirty="0"/>
          </a:p>
        </p:txBody>
      </p:sp>
      <p:sp>
        <p:nvSpPr>
          <p:cNvPr id="4" name="Nivel Proyectos digitales para clientes"/>
          <p:cNvSpPr/>
          <p:nvPr/>
        </p:nvSpPr>
        <p:spPr>
          <a:xfrm>
            <a:off x="1554480" y="1097280"/>
            <a:ext cx="2926080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645920" y="1097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Proyectos digitales para clientes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Fase 3</a:t>
            </a:r>
            <a:endParaRPr lang="en-US" sz="1500" dirty="0"/>
          </a:p>
        </p:txBody>
      </p:sp>
      <p:sp>
        <p:nvSpPr>
          <p:cNvPr id="6" name="Nivel Gestión interna: esta app"/>
          <p:cNvSpPr/>
          <p:nvPr/>
        </p:nvSpPr>
        <p:spPr>
          <a:xfrm>
            <a:off x="1005840" y="21031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1031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Gestión interna: esta app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Fase 2 · en curso</a:t>
            </a:r>
            <a:endParaRPr lang="en-US" sz="1500" dirty="0"/>
          </a:p>
        </p:txBody>
      </p:sp>
      <p:sp>
        <p:nvSpPr>
          <p:cNvPr id="8" name="Nivel Datos digitalizados"/>
          <p:cNvSpPr/>
          <p:nvPr/>
        </p:nvSpPr>
        <p:spPr>
          <a:xfrm>
            <a:off x="457200" y="3108960"/>
            <a:ext cx="5120640" cy="868680"/>
          </a:xfrm>
          <a:prstGeom prst="roundRect">
            <a:avLst>
              <a:gd name="adj" fmla="val 1052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1089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Datos digitalizados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Fase 1 · lograda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Clientes, precios, productos, pedidos, stock y cobros</a:t>
            </a:r>
            <a:endParaRPr lang="en-US" sz="1200" dirty="0"/>
          </a:p>
        </p:txBody>
      </p:sp>
      <p:sp>
        <p:nvSpPr>
          <p:cNvPr id="11" name="Círculo Bot de WhatsApp"/>
          <p:cNvSpPr/>
          <p:nvPr/>
        </p:nvSpPr>
        <p:spPr>
          <a:xfrm>
            <a:off x="5897880" y="10972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Ícono Bot de WhatsApp" descr="Bot de Whats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9554" y="122895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537960" y="10515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Bot de WhatsApp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Pedidos, precios y estado del pedido por WhatsApp</a:t>
            </a:r>
            <a:endParaRPr lang="en-US" sz="1350" dirty="0"/>
          </a:p>
        </p:txBody>
      </p:sp>
      <p:sp>
        <p:nvSpPr>
          <p:cNvPr id="14" name="Círculo Ventas en línea"/>
          <p:cNvSpPr/>
          <p:nvPr/>
        </p:nvSpPr>
        <p:spPr>
          <a:xfrm>
            <a:off x="5897880" y="199339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Ícono Ventas en línea" descr="Ventas en lín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554" y="2125066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37960" y="194767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Ventas en línea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Catálogo con fotos y pedido directo del cliente</a:t>
            </a:r>
            <a:endParaRPr lang="en-US" sz="1350" dirty="0"/>
          </a:p>
        </p:txBody>
      </p:sp>
      <p:sp>
        <p:nvSpPr>
          <p:cNvPr id="17" name="Círculo Seguimiento para el cliente"/>
          <p:cNvSpPr/>
          <p:nvPr/>
        </p:nvSpPr>
        <p:spPr>
          <a:xfrm>
            <a:off x="5897880" y="2889504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Ícono Seguimiento para el cliente" descr="Seguimiento para el clien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554" y="3021178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537960" y="2843784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Seguimiento para el cliente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Aviso cuando su pedido sale y llega</a:t>
            </a:r>
            <a:endParaRPr lang="en-US" sz="1350" dirty="0"/>
          </a:p>
        </p:txBody>
      </p:sp>
      <p:sp>
        <p:nvSpPr>
          <p:cNvPr id="20" name="Círculo Indicadores para gerencia"/>
          <p:cNvSpPr/>
          <p:nvPr/>
        </p:nvSpPr>
        <p:spPr>
          <a:xfrm>
            <a:off x="5897880" y="3785616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Ícono Indicadores para gerencia" descr="Indicadores para gerenci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9554" y="3917290"/>
            <a:ext cx="285293" cy="28529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537960" y="3739896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Indicadores para gerencia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Ventas, producción y cobranza al día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Lo que necesitamos de Gerencia</a:t>
            </a:r>
            <a:endParaRPr lang="en-US" sz="2800" dirty="0"/>
          </a:p>
        </p:txBody>
      </p:sp>
      <p:sp>
        <p:nvSpPr>
          <p:cNvPr id="4" name="Círculo Aprobar el piloto"/>
          <p:cNvSpPr/>
          <p:nvPr/>
        </p:nvSpPr>
        <p:spPr>
          <a:xfrm>
            <a:off x="457200" y="10515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Ícono Aprobar el piloto" descr="Aprobar el pil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1205179"/>
            <a:ext cx="332842" cy="33284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80160" y="103327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Aprobar el piloto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Uso real del 1 al 15 de noviembre, en paralelo con el método actual la primera semana</a:t>
            </a:r>
            <a:endParaRPr lang="en-US" sz="1600" dirty="0"/>
          </a:p>
        </p:txBody>
      </p:sp>
      <p:sp>
        <p:nvSpPr>
          <p:cNvPr id="7" name="Círculo Comprometer a los usuarios"/>
          <p:cNvSpPr/>
          <p:nvPr/>
        </p:nvSpPr>
        <p:spPr>
          <a:xfrm>
            <a:off x="457200" y="1947672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Ícono Comprometer a los usuarios" descr="Comprometer a los usuari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" y="2101291"/>
            <a:ext cx="332842" cy="33284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80160" y="1929384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Comprometer a los usuarios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Que cada área registre todo en la app y envíe sus sugerencias</a:t>
            </a:r>
            <a:endParaRPr lang="en-US" sz="1600" dirty="0"/>
          </a:p>
        </p:txBody>
      </p:sp>
      <p:sp>
        <p:nvSpPr>
          <p:cNvPr id="10" name="Círculo Completar los datos"/>
          <p:cNvSpPr/>
          <p:nvPr/>
        </p:nvSpPr>
        <p:spPr>
          <a:xfrm>
            <a:off x="457200" y="2843784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1" name="Ícono Completar los datos" descr="Completar los dat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2997403"/>
            <a:ext cx="332842" cy="33284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280160" y="282549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Completar los datos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Fotos de productos, precios faltantes, DNI o RUC de clientes</a:t>
            </a:r>
            <a:endParaRPr lang="en-US" sz="1600" dirty="0"/>
          </a:p>
        </p:txBody>
      </p:sp>
      <p:sp>
        <p:nvSpPr>
          <p:cNvPr id="13" name="Círculo Priorizar la fase 3"/>
          <p:cNvSpPr/>
          <p:nvPr/>
        </p:nvSpPr>
        <p:spPr>
          <a:xfrm>
            <a:off x="457200" y="3739896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Ícono Priorizar la fase 3" descr="Priorizar la fase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" y="3893515"/>
            <a:ext cx="332842" cy="332842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280160" y="372160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Priorizar la fase 3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Elegir el primer proyecto para clientes: bot de WhatsApp o ventas en línea</a:t>
            </a:r>
            <a:endParaRPr lang="en-US" sz="1600" dirty="0"/>
          </a:p>
        </p:txBody>
      </p:sp>
      <p:sp>
        <p:nvSpPr>
          <p:cNvPr id="16" name="Piloto"/>
          <p:cNvSpPr/>
          <p:nvPr/>
        </p:nvSpPr>
        <p:spPr>
          <a:xfrm>
            <a:off x="6309360" y="1051560"/>
            <a:ext cx="2377440" cy="342900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rgbClr val="D3DCEC"/>
            </a:solidFill>
            <a:prstDash val="solid"/>
          </a:ln>
        </p:spPr>
      </p:sp>
      <p:sp>
        <p:nvSpPr>
          <p:cNvPr id="17" name="Círculo Calendario"/>
          <p:cNvSpPr/>
          <p:nvPr/>
        </p:nvSpPr>
        <p:spPr>
          <a:xfrm>
            <a:off x="7132320" y="128016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Ícono Calendario" descr="Calendari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885" y="1455725"/>
            <a:ext cx="380390" cy="38039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30936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Piloto</a:t>
            </a:r>
            <a:endParaRPr lang="en-US" sz="1600" dirty="0"/>
          </a:p>
        </p:txBody>
      </p:sp>
      <p:sp>
        <p:nvSpPr>
          <p:cNvPr id="20" name="Text 12"/>
          <p:cNvSpPr txBox="1"/>
          <p:nvPr/>
        </p:nvSpPr>
        <p:spPr>
          <a:xfrm>
            <a:off x="6309360" y="25146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1–15 nov</a:t>
            </a:r>
            <a:endParaRPr lang="en-US" sz="3600" dirty="0"/>
          </a:p>
        </p:txBody>
      </p:sp>
      <p:sp>
        <p:nvSpPr>
          <p:cNvPr id="21" name="Text 13"/>
          <p:cNvSpPr txBox="1"/>
          <p:nvPr/>
        </p:nvSpPr>
        <p:spPr>
          <a:xfrm>
            <a:off x="6446520" y="32918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Primera versión lista a fines de octubre; uso real y mejoras en noviembre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28032"/>
            <a:ext cx="3200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Gracias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Proyecto de digitalización · Pinturas Liz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 cargo de Jordan R.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estadisticoj.github.io/pinturas-liz-app</a:t>
            </a:r>
            <a:endParaRPr lang="en-US" sz="1800" dirty="0"/>
          </a:p>
        </p:txBody>
      </p:sp>
      <p:sp>
        <p:nvSpPr>
          <p:cNvPr id="4" name="Fondo logo"/>
          <p:cNvSpPr/>
          <p:nvPr/>
        </p:nvSpPr>
        <p:spPr>
          <a:xfrm>
            <a:off x="6263640" y="1097280"/>
            <a:ext cx="2423160" cy="2834640"/>
          </a:xfrm>
          <a:prstGeom prst="roundRect">
            <a:avLst>
              <a:gd name="adj" fmla="val 754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5" name="Logo Pinturas Liz" descr="/home/claude/pinturas-liz-app/publi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645920"/>
            <a:ext cx="2057400" cy="15361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inturas Liz">
  <a:themeElements>
    <a:clrScheme name="Pinturas Liz">
      <a:dk1>
        <a:srgbClr val="0F1E3D"/>
      </a:dk1>
      <a:lt1>
        <a:srgbClr val="FFFFFF"/>
      </a:lt1>
      <a:dk2>
        <a:srgbClr val="0E3A8C"/>
      </a:dk2>
      <a:lt2>
        <a:srgbClr val="F4F6FB"/>
      </a:lt2>
      <a:accent1>
        <a:srgbClr val="C8202A"/>
      </a:accent1>
      <a:accent2>
        <a:srgbClr val="F6C21A"/>
      </a:accent2>
      <a:accent3>
        <a:srgbClr val="1559C2"/>
      </a:accent3>
      <a:accent4>
        <a:srgbClr val="2E9D45"/>
      </a:accent4>
      <a:accent5>
        <a:srgbClr val="F07A1C"/>
      </a:accent5>
      <a:accent6>
        <a:srgbClr val="6B7891"/>
      </a:accent6>
      <a:hlink>
        <a:srgbClr val="1559C2"/>
      </a:hlink>
      <a:folHlink>
        <a:srgbClr val="0E3A8C"/>
      </a:folHlink>
    </a:clrScheme>
    <a:fontScheme name="Pinturas Liz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Digitalización de Pinturas Liz · Presentación a Gerencia</dc:title>
  <dc:subject>PptxGenJS Presentation</dc:subject>
  <dc:creator>Jordan R.</dc:creator>
  <cp:lastModifiedBy>Jordan R.</cp:lastModifiedBy>
  <cp:revision>1</cp:revision>
  <dcterms:created xsi:type="dcterms:W3CDTF">2026-10-21T17:22:20Z</dcterms:created>
  <dcterms:modified xsi:type="dcterms:W3CDTF">2026-10-21T17:22:20Z</dcterms:modified>
</cp:coreProperties>
</file>